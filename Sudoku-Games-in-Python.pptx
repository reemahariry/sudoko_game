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952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330109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75000"/>
            </a:srgbClr>
          </a:solidFill>
          <a:ln/>
        </p:spPr>
      </p:sp>
      <p:sp>
        <p:nvSpPr>
          <p:cNvPr id="5" name="Text 1"/>
          <p:cNvSpPr/>
          <p:nvPr/>
        </p:nvSpPr>
        <p:spPr>
          <a:xfrm>
            <a:off x="7123033" y="2193250"/>
            <a:ext cx="7415927" cy="1892618"/>
          </a:xfrm>
          <a:prstGeom prst="rect">
            <a:avLst/>
          </a:prstGeom>
          <a:noFill/>
          <a:ln/>
        </p:spPr>
        <p:txBody>
          <a:bodyPr wrap="square" rtlCol="0" anchor="t"/>
          <a:lstStyle/>
          <a:p>
            <a:pPr marL="0" indent="0">
              <a:lnSpc>
                <a:spcPts val="7452"/>
              </a:lnSpc>
              <a:buNone/>
            </a:pPr>
            <a:r>
              <a:rPr lang="en-US" sz="5962" dirty="0">
                <a:solidFill>
                  <a:srgbClr val="FFFFFF"/>
                </a:solidFill>
                <a:latin typeface="Barlow" pitchFamily="34" charset="0"/>
                <a:ea typeface="Barlow" pitchFamily="34" charset="-122"/>
                <a:cs typeface="Barlow" pitchFamily="34" charset="-120"/>
              </a:rPr>
              <a:t>Sudoku Games in Python</a:t>
            </a:r>
            <a:endParaRPr lang="en-US" sz="5962" dirty="0"/>
          </a:p>
        </p:txBody>
      </p:sp>
      <p:sp>
        <p:nvSpPr>
          <p:cNvPr id="6" name="Text 2"/>
          <p:cNvSpPr/>
          <p:nvPr/>
        </p:nvSpPr>
        <p:spPr>
          <a:xfrm>
            <a:off x="7123032" y="4257496"/>
            <a:ext cx="7415927" cy="1580198"/>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Welcome to my presentation on my Sudoku game projects. I've created two versions, one using Pygame and the other using Tkinter, both in Python. We'll explore the design, features, and development process of each game.</a:t>
            </a:r>
            <a:endParaRPr lang="en-US" sz="1944" dirty="0"/>
          </a:p>
        </p:txBody>
      </p:sp>
      <p:pic>
        <p:nvPicPr>
          <p:cNvPr id="10" name="Picture 9">
            <a:extLst>
              <a:ext uri="{FF2B5EF4-FFF2-40B4-BE49-F238E27FC236}">
                <a16:creationId xmlns:a16="http://schemas.microsoft.com/office/drawing/2014/main" id="{08F0BEA7-D071-4F75-913F-9380293730EE}"/>
              </a:ext>
            </a:extLst>
          </p:cNvPr>
          <p:cNvPicPr>
            <a:picLocks noChangeAspect="1"/>
          </p:cNvPicPr>
          <p:nvPr/>
        </p:nvPicPr>
        <p:blipFill>
          <a:blip r:embed="rId4"/>
          <a:stretch>
            <a:fillRect/>
          </a:stretch>
        </p:blipFill>
        <p:spPr>
          <a:xfrm>
            <a:off x="0" y="0"/>
            <a:ext cx="6626711"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350437" y="926663"/>
            <a:ext cx="5591294" cy="685800"/>
          </a:xfrm>
          <a:prstGeom prst="rect">
            <a:avLst/>
          </a:prstGeom>
          <a:noFill/>
          <a:ln/>
        </p:spPr>
        <p:txBody>
          <a:bodyPr wrap="none" rtlCol="0" anchor="t"/>
          <a:lstStyle/>
          <a:p>
            <a:pPr marL="0" indent="0">
              <a:lnSpc>
                <a:spcPts val="5400"/>
              </a:lnSpc>
              <a:buNone/>
            </a:pPr>
            <a:r>
              <a:rPr lang="en-US" sz="4320" dirty="0">
                <a:solidFill>
                  <a:srgbClr val="FFFFFF"/>
                </a:solidFill>
                <a:latin typeface="Barlow" pitchFamily="34" charset="0"/>
                <a:ea typeface="Barlow" pitchFamily="34" charset="-122"/>
                <a:cs typeface="Barlow" pitchFamily="34" charset="-120"/>
              </a:rPr>
              <a:t>Sudoku Game Overview</a:t>
            </a:r>
            <a:endParaRPr lang="en-US" sz="4320" dirty="0"/>
          </a:p>
        </p:txBody>
      </p:sp>
      <p:sp>
        <p:nvSpPr>
          <p:cNvPr id="6" name="Text 2"/>
          <p:cNvSpPr/>
          <p:nvPr/>
        </p:nvSpPr>
        <p:spPr>
          <a:xfrm>
            <a:off x="6350437" y="1982748"/>
            <a:ext cx="7415927" cy="1185148"/>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Sudoku is a logic-based number-placement puzzle. The objective is to fill a 9x9 grid with digits so that each column, each row, and each of the nine 3x3 subgrids contains all of the digits from 1 to 9.</a:t>
            </a:r>
            <a:endParaRPr lang="en-US" sz="1944" dirty="0"/>
          </a:p>
        </p:txBody>
      </p:sp>
      <p:sp>
        <p:nvSpPr>
          <p:cNvPr id="7" name="Shape 3"/>
          <p:cNvSpPr/>
          <p:nvPr/>
        </p:nvSpPr>
        <p:spPr>
          <a:xfrm>
            <a:off x="6350437" y="3445550"/>
            <a:ext cx="3584615" cy="2200275"/>
          </a:xfrm>
          <a:prstGeom prst="roundRect">
            <a:avLst>
              <a:gd name="adj" fmla="val 4713"/>
            </a:avLst>
          </a:prstGeom>
          <a:solidFill>
            <a:srgbClr val="790709"/>
          </a:solidFill>
          <a:ln w="15240">
            <a:solidFill>
              <a:srgbClr val="922022"/>
            </a:solidFill>
            <a:prstDash val="solid"/>
          </a:ln>
        </p:spPr>
      </p:sp>
      <p:sp>
        <p:nvSpPr>
          <p:cNvPr id="8" name="Text 4"/>
          <p:cNvSpPr/>
          <p:nvPr/>
        </p:nvSpPr>
        <p:spPr>
          <a:xfrm>
            <a:off x="6612493" y="3707606"/>
            <a:ext cx="2743200" cy="342900"/>
          </a:xfrm>
          <a:prstGeom prst="rect">
            <a:avLst/>
          </a:prstGeom>
          <a:noFill/>
          <a:ln/>
        </p:spPr>
        <p:txBody>
          <a:bodyPr wrap="none" rtlCol="0" anchor="t"/>
          <a:lstStyle/>
          <a:p>
            <a:pPr marL="0" indent="0">
              <a:lnSpc>
                <a:spcPts val="2700"/>
              </a:lnSpc>
              <a:buNone/>
            </a:pPr>
            <a:r>
              <a:rPr lang="en-US" sz="2160" dirty="0">
                <a:solidFill>
                  <a:srgbClr val="E5E0DF"/>
                </a:solidFill>
                <a:latin typeface="Barlow" pitchFamily="34" charset="0"/>
                <a:ea typeface="Barlow" pitchFamily="34" charset="-122"/>
                <a:cs typeface="Barlow" pitchFamily="34" charset="-120"/>
              </a:rPr>
              <a:t>Rules</a:t>
            </a:r>
            <a:endParaRPr lang="en-US" sz="2160" dirty="0"/>
          </a:p>
        </p:txBody>
      </p:sp>
      <p:sp>
        <p:nvSpPr>
          <p:cNvPr id="9" name="Text 5"/>
          <p:cNvSpPr/>
          <p:nvPr/>
        </p:nvSpPr>
        <p:spPr>
          <a:xfrm>
            <a:off x="6612493" y="4198620"/>
            <a:ext cx="3060502" cy="1185148"/>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Each row, column, and 3x3 block must contain all digits 1 through 9.</a:t>
            </a:r>
            <a:endParaRPr lang="en-US" sz="1944" dirty="0"/>
          </a:p>
        </p:txBody>
      </p:sp>
      <p:sp>
        <p:nvSpPr>
          <p:cNvPr id="10" name="Shape 6"/>
          <p:cNvSpPr/>
          <p:nvPr/>
        </p:nvSpPr>
        <p:spPr>
          <a:xfrm>
            <a:off x="10181868" y="3445550"/>
            <a:ext cx="3584615" cy="2200275"/>
          </a:xfrm>
          <a:prstGeom prst="roundRect">
            <a:avLst>
              <a:gd name="adj" fmla="val 4713"/>
            </a:avLst>
          </a:prstGeom>
          <a:solidFill>
            <a:srgbClr val="790709"/>
          </a:solidFill>
          <a:ln w="15240">
            <a:solidFill>
              <a:srgbClr val="922022"/>
            </a:solidFill>
            <a:prstDash val="solid"/>
          </a:ln>
        </p:spPr>
      </p:sp>
      <p:sp>
        <p:nvSpPr>
          <p:cNvPr id="11" name="Text 7"/>
          <p:cNvSpPr/>
          <p:nvPr/>
        </p:nvSpPr>
        <p:spPr>
          <a:xfrm>
            <a:off x="10443924" y="3707606"/>
            <a:ext cx="2743200" cy="342900"/>
          </a:xfrm>
          <a:prstGeom prst="rect">
            <a:avLst/>
          </a:prstGeom>
          <a:noFill/>
          <a:ln/>
        </p:spPr>
        <p:txBody>
          <a:bodyPr wrap="none" rtlCol="0" anchor="t"/>
          <a:lstStyle/>
          <a:p>
            <a:pPr marL="0" indent="0">
              <a:lnSpc>
                <a:spcPts val="2700"/>
              </a:lnSpc>
              <a:buNone/>
            </a:pPr>
            <a:r>
              <a:rPr lang="en-US" sz="2160" dirty="0">
                <a:solidFill>
                  <a:srgbClr val="E5E0DF"/>
                </a:solidFill>
                <a:latin typeface="Barlow" pitchFamily="34" charset="0"/>
                <a:ea typeface="Barlow" pitchFamily="34" charset="-122"/>
                <a:cs typeface="Barlow" pitchFamily="34" charset="-120"/>
              </a:rPr>
              <a:t>Difficulty</a:t>
            </a:r>
            <a:endParaRPr lang="en-US" sz="2160" dirty="0"/>
          </a:p>
        </p:txBody>
      </p:sp>
      <p:sp>
        <p:nvSpPr>
          <p:cNvPr id="12" name="Text 8"/>
          <p:cNvSpPr/>
          <p:nvPr/>
        </p:nvSpPr>
        <p:spPr>
          <a:xfrm>
            <a:off x="10443924" y="4198620"/>
            <a:ext cx="3060502" cy="790099"/>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Sudoku puzzles vary in difficulty, from easy to hard.</a:t>
            </a:r>
            <a:endParaRPr lang="en-US" sz="1944" dirty="0"/>
          </a:p>
        </p:txBody>
      </p:sp>
      <p:sp>
        <p:nvSpPr>
          <p:cNvPr id="13" name="Shape 9"/>
          <p:cNvSpPr/>
          <p:nvPr/>
        </p:nvSpPr>
        <p:spPr>
          <a:xfrm>
            <a:off x="6350437" y="5892641"/>
            <a:ext cx="7415927" cy="1410176"/>
          </a:xfrm>
          <a:prstGeom prst="roundRect">
            <a:avLst>
              <a:gd name="adj" fmla="val 7353"/>
            </a:avLst>
          </a:prstGeom>
          <a:solidFill>
            <a:srgbClr val="790709"/>
          </a:solidFill>
          <a:ln w="15240">
            <a:solidFill>
              <a:srgbClr val="922022"/>
            </a:solidFill>
            <a:prstDash val="solid"/>
          </a:ln>
        </p:spPr>
      </p:sp>
      <p:sp>
        <p:nvSpPr>
          <p:cNvPr id="14" name="Text 10"/>
          <p:cNvSpPr/>
          <p:nvPr/>
        </p:nvSpPr>
        <p:spPr>
          <a:xfrm>
            <a:off x="6612493" y="6154698"/>
            <a:ext cx="2743200" cy="342900"/>
          </a:xfrm>
          <a:prstGeom prst="rect">
            <a:avLst/>
          </a:prstGeom>
          <a:noFill/>
          <a:ln/>
        </p:spPr>
        <p:txBody>
          <a:bodyPr wrap="none" rtlCol="0" anchor="t"/>
          <a:lstStyle/>
          <a:p>
            <a:pPr marL="0" indent="0">
              <a:lnSpc>
                <a:spcPts val="2700"/>
              </a:lnSpc>
              <a:buNone/>
            </a:pPr>
            <a:r>
              <a:rPr lang="en-US" sz="2160" dirty="0">
                <a:solidFill>
                  <a:srgbClr val="E5E0DF"/>
                </a:solidFill>
                <a:latin typeface="Barlow" pitchFamily="34" charset="0"/>
                <a:ea typeface="Barlow" pitchFamily="34" charset="-122"/>
                <a:cs typeface="Barlow" pitchFamily="34" charset="-120"/>
              </a:rPr>
              <a:t>Logic</a:t>
            </a:r>
            <a:endParaRPr lang="en-US" sz="2160" dirty="0"/>
          </a:p>
        </p:txBody>
      </p:sp>
      <p:sp>
        <p:nvSpPr>
          <p:cNvPr id="15" name="Text 11"/>
          <p:cNvSpPr/>
          <p:nvPr/>
        </p:nvSpPr>
        <p:spPr>
          <a:xfrm>
            <a:off x="6612493" y="6645712"/>
            <a:ext cx="6891814" cy="395049"/>
          </a:xfrm>
          <a:prstGeom prst="rect">
            <a:avLst/>
          </a:prstGeom>
          <a:noFill/>
          <a:ln/>
        </p:spPr>
        <p:txBody>
          <a:bodyPr wrap="non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Players use logic and deduction to solve Sudoku puzzles.</a:t>
            </a:r>
            <a:endParaRPr lang="en-US" sz="194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75000"/>
            </a:srgbClr>
          </a:solidFill>
          <a:ln/>
        </p:spPr>
      </p:sp>
      <p:sp>
        <p:nvSpPr>
          <p:cNvPr id="4" name="Text 1"/>
          <p:cNvSpPr/>
          <p:nvPr/>
        </p:nvSpPr>
        <p:spPr>
          <a:xfrm>
            <a:off x="864037" y="1408509"/>
            <a:ext cx="6686907" cy="685800"/>
          </a:xfrm>
          <a:prstGeom prst="rect">
            <a:avLst/>
          </a:prstGeom>
          <a:noFill/>
          <a:ln/>
        </p:spPr>
        <p:txBody>
          <a:bodyPr wrap="none" rtlCol="0" anchor="t"/>
          <a:lstStyle/>
          <a:p>
            <a:pPr marL="0" indent="0">
              <a:lnSpc>
                <a:spcPts val="5400"/>
              </a:lnSpc>
              <a:buNone/>
            </a:pPr>
            <a:r>
              <a:rPr lang="en-US" sz="4320" dirty="0">
                <a:solidFill>
                  <a:srgbClr val="FFFFFF"/>
                </a:solidFill>
                <a:latin typeface="Barlow" pitchFamily="34" charset="0"/>
                <a:ea typeface="Barlow" pitchFamily="34" charset="-122"/>
                <a:cs typeface="Barlow" pitchFamily="34" charset="-120"/>
              </a:rPr>
              <a:t>Sudoku Game using Pygame</a:t>
            </a:r>
            <a:endParaRPr lang="en-US" sz="4320" dirty="0"/>
          </a:p>
        </p:txBody>
      </p:sp>
      <p:sp>
        <p:nvSpPr>
          <p:cNvPr id="5" name="Text 2"/>
          <p:cNvSpPr/>
          <p:nvPr/>
        </p:nvSpPr>
        <p:spPr>
          <a:xfrm>
            <a:off x="864037" y="2588062"/>
            <a:ext cx="12902327" cy="790099"/>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The Pygame Sudoku game is a visually appealing and interactive experience. It utilizes Pygame's graphics and event handling capabilities to create a dynamic game interface.</a:t>
            </a:r>
            <a:endParaRPr lang="en-US" sz="1944" dirty="0"/>
          </a:p>
        </p:txBody>
      </p:sp>
      <p:sp>
        <p:nvSpPr>
          <p:cNvPr id="6" name="Shape 3"/>
          <p:cNvSpPr/>
          <p:nvPr/>
        </p:nvSpPr>
        <p:spPr>
          <a:xfrm>
            <a:off x="275394" y="4515075"/>
            <a:ext cx="2658307" cy="2433014"/>
          </a:xfrm>
          <a:prstGeom prst="roundRect">
            <a:avLst>
              <a:gd name="adj" fmla="val 3410"/>
            </a:avLst>
          </a:prstGeom>
          <a:solidFill>
            <a:srgbClr val="790709"/>
          </a:solidFill>
          <a:ln w="15240">
            <a:solidFill>
              <a:srgbClr val="922022"/>
            </a:solidFill>
            <a:prstDash val="solid"/>
          </a:ln>
        </p:spPr>
      </p:sp>
      <p:sp>
        <p:nvSpPr>
          <p:cNvPr id="7" name="Text 4"/>
          <p:cNvSpPr/>
          <p:nvPr/>
        </p:nvSpPr>
        <p:spPr>
          <a:xfrm>
            <a:off x="718246" y="4820975"/>
            <a:ext cx="2516386" cy="342900"/>
          </a:xfrm>
          <a:prstGeom prst="rect">
            <a:avLst/>
          </a:prstGeom>
          <a:noFill/>
          <a:ln/>
        </p:spPr>
        <p:txBody>
          <a:bodyPr wrap="none" rtlCol="0" anchor="t"/>
          <a:lstStyle/>
          <a:p>
            <a:pPr marL="0" indent="0" algn="l">
              <a:lnSpc>
                <a:spcPts val="2700"/>
              </a:lnSpc>
              <a:buNone/>
            </a:pPr>
            <a:r>
              <a:rPr lang="en-US" sz="2160" dirty="0">
                <a:solidFill>
                  <a:srgbClr val="E5E0DF"/>
                </a:solidFill>
                <a:latin typeface="Barlow" pitchFamily="34" charset="0"/>
                <a:ea typeface="Barlow" pitchFamily="34" charset="-122"/>
                <a:cs typeface="Barlow" pitchFamily="34" charset="-120"/>
              </a:rPr>
              <a:t>Menu Screen</a:t>
            </a:r>
            <a:endParaRPr lang="en-US" sz="2160" dirty="0"/>
          </a:p>
        </p:txBody>
      </p:sp>
      <p:sp>
        <p:nvSpPr>
          <p:cNvPr id="8" name="Text 5"/>
          <p:cNvSpPr/>
          <p:nvPr/>
        </p:nvSpPr>
        <p:spPr>
          <a:xfrm>
            <a:off x="549853" y="5473122"/>
            <a:ext cx="2516386" cy="1185148"/>
          </a:xfrm>
          <a:prstGeom prst="rect">
            <a:avLst/>
          </a:prstGeom>
          <a:noFill/>
          <a:ln/>
        </p:spPr>
        <p:txBody>
          <a:bodyPr wrap="square" rtlCol="0" anchor="t"/>
          <a:lstStyle/>
          <a:p>
            <a:pPr marL="0" indent="0" algn="l">
              <a:lnSpc>
                <a:spcPts val="3110"/>
              </a:lnSpc>
              <a:buNone/>
            </a:pPr>
            <a:r>
              <a:rPr lang="en-US" sz="1944" dirty="0">
                <a:solidFill>
                  <a:srgbClr val="E5E0DF"/>
                </a:solidFill>
                <a:latin typeface="Barlow" pitchFamily="34" charset="0"/>
                <a:ea typeface="Barlow" pitchFamily="34" charset="-122"/>
                <a:cs typeface="Barlow" pitchFamily="34" charset="-120"/>
              </a:rPr>
              <a:t>The menu screen allows players to  adjust difficulty.</a:t>
            </a:r>
            <a:endParaRPr lang="en-US" sz="1944" dirty="0"/>
          </a:p>
        </p:txBody>
      </p:sp>
      <p:pic>
        <p:nvPicPr>
          <p:cNvPr id="10" name="Image 1" descr="preencoded.png"/>
          <p:cNvPicPr>
            <a:picLocks noChangeAspect="1"/>
          </p:cNvPicPr>
          <p:nvPr/>
        </p:nvPicPr>
        <p:blipFill>
          <a:blip r:embed="rId4"/>
          <a:stretch>
            <a:fillRect/>
          </a:stretch>
        </p:blipFill>
        <p:spPr>
          <a:xfrm>
            <a:off x="3234632" y="3871914"/>
            <a:ext cx="3668658" cy="3864729"/>
          </a:xfrm>
          <a:prstGeom prst="rect">
            <a:avLst/>
          </a:prstGeom>
        </p:spPr>
      </p:pic>
      <p:sp>
        <p:nvSpPr>
          <p:cNvPr id="11" name="Shape 7"/>
          <p:cNvSpPr/>
          <p:nvPr/>
        </p:nvSpPr>
        <p:spPr>
          <a:xfrm>
            <a:off x="7550944" y="4260771"/>
            <a:ext cx="2928223" cy="2560320"/>
          </a:xfrm>
          <a:prstGeom prst="roundRect">
            <a:avLst>
              <a:gd name="adj" fmla="val 3410"/>
            </a:avLst>
          </a:prstGeom>
          <a:solidFill>
            <a:srgbClr val="790709"/>
          </a:solidFill>
          <a:ln w="15240">
            <a:solidFill>
              <a:srgbClr val="922022"/>
            </a:solidFill>
            <a:prstDash val="solid"/>
          </a:ln>
        </p:spPr>
      </p:sp>
      <p:sp>
        <p:nvSpPr>
          <p:cNvPr id="12" name="Text 8"/>
          <p:cNvSpPr/>
          <p:nvPr/>
        </p:nvSpPr>
        <p:spPr>
          <a:xfrm>
            <a:off x="7700724" y="4273616"/>
            <a:ext cx="2516386" cy="342900"/>
          </a:xfrm>
          <a:prstGeom prst="rect">
            <a:avLst/>
          </a:prstGeom>
          <a:noFill/>
          <a:ln/>
        </p:spPr>
        <p:txBody>
          <a:bodyPr wrap="none" rtlCol="0" anchor="t"/>
          <a:lstStyle/>
          <a:p>
            <a:pPr marL="0" indent="0" algn="l">
              <a:lnSpc>
                <a:spcPts val="2700"/>
              </a:lnSpc>
              <a:buNone/>
            </a:pPr>
            <a:r>
              <a:rPr lang="en-US" sz="2160" dirty="0">
                <a:solidFill>
                  <a:srgbClr val="E5E0DF"/>
                </a:solidFill>
                <a:latin typeface="Barlow" pitchFamily="34" charset="0"/>
                <a:ea typeface="Barlow" pitchFamily="34" charset="-122"/>
                <a:cs typeface="Barlow" pitchFamily="34" charset="-120"/>
              </a:rPr>
              <a:t>Gameplay Screen</a:t>
            </a:r>
            <a:endParaRPr lang="en-US" sz="2160" dirty="0"/>
          </a:p>
        </p:txBody>
      </p:sp>
      <p:sp>
        <p:nvSpPr>
          <p:cNvPr id="13" name="Text 9"/>
          <p:cNvSpPr/>
          <p:nvPr/>
        </p:nvSpPr>
        <p:spPr>
          <a:xfrm>
            <a:off x="7700724" y="4800481"/>
            <a:ext cx="2516386" cy="1975247"/>
          </a:xfrm>
          <a:prstGeom prst="rect">
            <a:avLst/>
          </a:prstGeom>
          <a:noFill/>
          <a:ln/>
        </p:spPr>
        <p:txBody>
          <a:bodyPr wrap="square" rtlCol="0" anchor="t"/>
          <a:lstStyle/>
          <a:p>
            <a:pPr marL="0" indent="0" algn="l">
              <a:lnSpc>
                <a:spcPts val="3110"/>
              </a:lnSpc>
              <a:buNone/>
            </a:pPr>
            <a:r>
              <a:rPr lang="en-US" sz="1944" dirty="0">
                <a:solidFill>
                  <a:srgbClr val="E5E0DF"/>
                </a:solidFill>
                <a:latin typeface="Barlow" pitchFamily="34" charset="0"/>
                <a:ea typeface="Barlow" pitchFamily="34" charset="-122"/>
                <a:cs typeface="Barlow" pitchFamily="34" charset="-120"/>
              </a:rPr>
              <a:t>The gameplay screen displays the Sudoku grid, allowing users to interact with cells, enter numbers.</a:t>
            </a:r>
            <a:endParaRPr lang="en-US" sz="1944" dirty="0"/>
          </a:p>
        </p:txBody>
      </p:sp>
      <p:pic>
        <p:nvPicPr>
          <p:cNvPr id="15" name="Image 2" descr="preencoded.png"/>
          <p:cNvPicPr>
            <a:picLocks noChangeAspect="1"/>
          </p:cNvPicPr>
          <p:nvPr/>
        </p:nvPicPr>
        <p:blipFill>
          <a:blip r:embed="rId5"/>
          <a:stretch>
            <a:fillRect/>
          </a:stretch>
        </p:blipFill>
        <p:spPr>
          <a:xfrm>
            <a:off x="10760441" y="3871914"/>
            <a:ext cx="3682147" cy="38647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75000"/>
            </a:srgbClr>
          </a:solidFill>
          <a:ln/>
        </p:spPr>
      </p:sp>
      <p:sp>
        <p:nvSpPr>
          <p:cNvPr id="4" name="Text 1"/>
          <p:cNvSpPr/>
          <p:nvPr/>
        </p:nvSpPr>
        <p:spPr>
          <a:xfrm>
            <a:off x="864037" y="1173123"/>
            <a:ext cx="7498318" cy="685800"/>
          </a:xfrm>
          <a:prstGeom prst="rect">
            <a:avLst/>
          </a:prstGeom>
          <a:noFill/>
          <a:ln/>
        </p:spPr>
        <p:txBody>
          <a:bodyPr wrap="none" rtlCol="0" anchor="t"/>
          <a:lstStyle/>
          <a:p>
            <a:pPr marL="0" indent="0">
              <a:lnSpc>
                <a:spcPts val="5400"/>
              </a:lnSpc>
              <a:buNone/>
            </a:pPr>
            <a:r>
              <a:rPr lang="en-US" sz="4320" dirty="0">
                <a:solidFill>
                  <a:srgbClr val="FFFFFF"/>
                </a:solidFill>
                <a:latin typeface="Barlow" pitchFamily="34" charset="0"/>
                <a:ea typeface="Barlow" pitchFamily="34" charset="-122"/>
                <a:cs typeface="Barlow" pitchFamily="34" charset="-120"/>
              </a:rPr>
              <a:t>Pygame Sudoku Game Features</a:t>
            </a:r>
            <a:endParaRPr lang="en-US" sz="4320" dirty="0"/>
          </a:p>
        </p:txBody>
      </p:sp>
      <p:sp>
        <p:nvSpPr>
          <p:cNvPr id="5" name="Text 2"/>
          <p:cNvSpPr/>
          <p:nvPr/>
        </p:nvSpPr>
        <p:spPr>
          <a:xfrm>
            <a:off x="864037" y="2229207"/>
            <a:ext cx="12902327" cy="395049"/>
          </a:xfrm>
          <a:prstGeom prst="rect">
            <a:avLst/>
          </a:prstGeom>
          <a:noFill/>
          <a:ln/>
        </p:spPr>
        <p:txBody>
          <a:bodyPr wrap="non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The Pygame Sudoku game offers features that enhance user experience and provide game assistance.</a:t>
            </a:r>
            <a:endParaRPr lang="en-US" sz="1944" dirty="0"/>
          </a:p>
        </p:txBody>
      </p:sp>
      <p:sp>
        <p:nvSpPr>
          <p:cNvPr id="6" name="Shape 3"/>
          <p:cNvSpPr/>
          <p:nvPr/>
        </p:nvSpPr>
        <p:spPr>
          <a:xfrm>
            <a:off x="864037" y="3179564"/>
            <a:ext cx="555427" cy="555427"/>
          </a:xfrm>
          <a:prstGeom prst="roundRect">
            <a:avLst>
              <a:gd name="adj" fmla="val 18669"/>
            </a:avLst>
          </a:prstGeom>
          <a:solidFill>
            <a:srgbClr val="790709"/>
          </a:solidFill>
          <a:ln w="15240">
            <a:solidFill>
              <a:srgbClr val="922022"/>
            </a:solidFill>
            <a:prstDash val="solid"/>
          </a:ln>
        </p:spPr>
      </p:sp>
      <p:sp>
        <p:nvSpPr>
          <p:cNvPr id="7" name="Text 4"/>
          <p:cNvSpPr/>
          <p:nvPr/>
        </p:nvSpPr>
        <p:spPr>
          <a:xfrm>
            <a:off x="1083826" y="3292673"/>
            <a:ext cx="115848" cy="329208"/>
          </a:xfrm>
          <a:prstGeom prst="rect">
            <a:avLst/>
          </a:prstGeom>
          <a:noFill/>
          <a:ln/>
        </p:spPr>
        <p:txBody>
          <a:bodyPr wrap="none" rtlCol="0" anchor="t"/>
          <a:lstStyle/>
          <a:p>
            <a:pPr marL="0" indent="0" algn="ctr">
              <a:lnSpc>
                <a:spcPts val="2592"/>
              </a:lnSpc>
              <a:buNone/>
            </a:pPr>
            <a:r>
              <a:rPr lang="en-US" sz="2592" dirty="0">
                <a:solidFill>
                  <a:srgbClr val="E5E0DF"/>
                </a:solidFill>
                <a:latin typeface="Barlow" pitchFamily="34" charset="0"/>
                <a:ea typeface="Barlow" pitchFamily="34" charset="-122"/>
                <a:cs typeface="Barlow" pitchFamily="34" charset="-120"/>
              </a:rPr>
              <a:t>1</a:t>
            </a:r>
            <a:endParaRPr lang="en-US" sz="2592" dirty="0"/>
          </a:p>
        </p:txBody>
      </p:sp>
      <p:sp>
        <p:nvSpPr>
          <p:cNvPr id="8" name="Text 5"/>
          <p:cNvSpPr/>
          <p:nvPr/>
        </p:nvSpPr>
        <p:spPr>
          <a:xfrm>
            <a:off x="1666280" y="3179564"/>
            <a:ext cx="2743200" cy="342900"/>
          </a:xfrm>
          <a:prstGeom prst="rect">
            <a:avLst/>
          </a:prstGeom>
          <a:noFill/>
          <a:ln/>
        </p:spPr>
        <p:txBody>
          <a:bodyPr wrap="none" rtlCol="0" anchor="t"/>
          <a:lstStyle/>
          <a:p>
            <a:pPr marL="0" indent="0">
              <a:lnSpc>
                <a:spcPts val="2700"/>
              </a:lnSpc>
              <a:buNone/>
            </a:pPr>
            <a:r>
              <a:rPr lang="en-US" sz="2160" dirty="0">
                <a:solidFill>
                  <a:srgbClr val="E5E0DF"/>
                </a:solidFill>
                <a:latin typeface="Barlow" pitchFamily="34" charset="0"/>
                <a:ea typeface="Barlow" pitchFamily="34" charset="-122"/>
                <a:cs typeface="Barlow" pitchFamily="34" charset="-120"/>
              </a:rPr>
              <a:t>Number Input</a:t>
            </a:r>
            <a:endParaRPr lang="en-US" sz="2160" dirty="0"/>
          </a:p>
        </p:txBody>
      </p:sp>
      <p:sp>
        <p:nvSpPr>
          <p:cNvPr id="9" name="Text 6"/>
          <p:cNvSpPr/>
          <p:nvPr/>
        </p:nvSpPr>
        <p:spPr>
          <a:xfrm>
            <a:off x="1666280" y="3670578"/>
            <a:ext cx="3333988" cy="1185148"/>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Players can enter numbers by choosing the box he want to insert in it and click on number buttons.</a:t>
            </a:r>
            <a:endParaRPr lang="en-US" sz="1944" dirty="0"/>
          </a:p>
        </p:txBody>
      </p:sp>
      <p:sp>
        <p:nvSpPr>
          <p:cNvPr id="10" name="Shape 7"/>
          <p:cNvSpPr/>
          <p:nvPr/>
        </p:nvSpPr>
        <p:spPr>
          <a:xfrm>
            <a:off x="5247084" y="3179564"/>
            <a:ext cx="555427" cy="555427"/>
          </a:xfrm>
          <a:prstGeom prst="roundRect">
            <a:avLst>
              <a:gd name="adj" fmla="val 18669"/>
            </a:avLst>
          </a:prstGeom>
          <a:solidFill>
            <a:srgbClr val="790709"/>
          </a:solidFill>
          <a:ln w="15240">
            <a:solidFill>
              <a:srgbClr val="922022"/>
            </a:solidFill>
            <a:prstDash val="solid"/>
          </a:ln>
        </p:spPr>
      </p:sp>
      <p:sp>
        <p:nvSpPr>
          <p:cNvPr id="11" name="Text 8"/>
          <p:cNvSpPr/>
          <p:nvPr/>
        </p:nvSpPr>
        <p:spPr>
          <a:xfrm>
            <a:off x="5435203" y="3292673"/>
            <a:ext cx="179070" cy="329208"/>
          </a:xfrm>
          <a:prstGeom prst="rect">
            <a:avLst/>
          </a:prstGeom>
          <a:noFill/>
          <a:ln/>
        </p:spPr>
        <p:txBody>
          <a:bodyPr wrap="none" rtlCol="0" anchor="t"/>
          <a:lstStyle/>
          <a:p>
            <a:pPr marL="0" indent="0" algn="ctr">
              <a:lnSpc>
                <a:spcPts val="2592"/>
              </a:lnSpc>
              <a:buNone/>
            </a:pPr>
            <a:r>
              <a:rPr lang="en-US" sz="2592" dirty="0">
                <a:solidFill>
                  <a:srgbClr val="E5E0DF"/>
                </a:solidFill>
                <a:latin typeface="Barlow" pitchFamily="34" charset="0"/>
                <a:ea typeface="Barlow" pitchFamily="34" charset="-122"/>
                <a:cs typeface="Barlow" pitchFamily="34" charset="-120"/>
              </a:rPr>
              <a:t>2</a:t>
            </a:r>
            <a:endParaRPr lang="en-US" sz="2592" dirty="0"/>
          </a:p>
        </p:txBody>
      </p:sp>
      <p:sp>
        <p:nvSpPr>
          <p:cNvPr id="12" name="Text 9"/>
          <p:cNvSpPr/>
          <p:nvPr/>
        </p:nvSpPr>
        <p:spPr>
          <a:xfrm>
            <a:off x="6049328" y="3179564"/>
            <a:ext cx="2743200" cy="342900"/>
          </a:xfrm>
          <a:prstGeom prst="rect">
            <a:avLst/>
          </a:prstGeom>
          <a:noFill/>
          <a:ln/>
        </p:spPr>
        <p:txBody>
          <a:bodyPr wrap="none" rtlCol="0" anchor="t"/>
          <a:lstStyle/>
          <a:p>
            <a:pPr marL="0" indent="0">
              <a:lnSpc>
                <a:spcPts val="2700"/>
              </a:lnSpc>
              <a:buNone/>
            </a:pPr>
            <a:r>
              <a:rPr lang="en-US" sz="2160" dirty="0">
                <a:solidFill>
                  <a:srgbClr val="E5E0DF"/>
                </a:solidFill>
                <a:latin typeface="Barlow" pitchFamily="34" charset="0"/>
                <a:ea typeface="Barlow" pitchFamily="34" charset="-122"/>
                <a:cs typeface="Barlow" pitchFamily="34" charset="-120"/>
              </a:rPr>
              <a:t>Error Checking</a:t>
            </a:r>
            <a:endParaRPr lang="en-US" sz="2160" dirty="0"/>
          </a:p>
        </p:txBody>
      </p:sp>
      <p:sp>
        <p:nvSpPr>
          <p:cNvPr id="13" name="Text 10"/>
          <p:cNvSpPr/>
          <p:nvPr/>
        </p:nvSpPr>
        <p:spPr>
          <a:xfrm>
            <a:off x="6049328" y="3670578"/>
            <a:ext cx="3333988" cy="1580198"/>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The game identifies and highlights errors, such as duplicate numbers in a row, column, or block.</a:t>
            </a:r>
            <a:endParaRPr lang="en-US" sz="1944" dirty="0"/>
          </a:p>
        </p:txBody>
      </p:sp>
      <p:sp>
        <p:nvSpPr>
          <p:cNvPr id="14" name="Shape 11"/>
          <p:cNvSpPr/>
          <p:nvPr/>
        </p:nvSpPr>
        <p:spPr>
          <a:xfrm>
            <a:off x="9630132" y="3179564"/>
            <a:ext cx="555427" cy="555427"/>
          </a:xfrm>
          <a:prstGeom prst="roundRect">
            <a:avLst>
              <a:gd name="adj" fmla="val 18669"/>
            </a:avLst>
          </a:prstGeom>
          <a:solidFill>
            <a:srgbClr val="790709"/>
          </a:solidFill>
          <a:ln w="15240">
            <a:solidFill>
              <a:srgbClr val="922022"/>
            </a:solidFill>
            <a:prstDash val="solid"/>
          </a:ln>
        </p:spPr>
      </p:sp>
      <p:sp>
        <p:nvSpPr>
          <p:cNvPr id="15" name="Text 12"/>
          <p:cNvSpPr/>
          <p:nvPr/>
        </p:nvSpPr>
        <p:spPr>
          <a:xfrm>
            <a:off x="9821585" y="3292673"/>
            <a:ext cx="172522" cy="329208"/>
          </a:xfrm>
          <a:prstGeom prst="rect">
            <a:avLst/>
          </a:prstGeom>
          <a:noFill/>
          <a:ln/>
        </p:spPr>
        <p:txBody>
          <a:bodyPr wrap="none" rtlCol="0" anchor="t"/>
          <a:lstStyle/>
          <a:p>
            <a:pPr marL="0" indent="0" algn="ctr">
              <a:lnSpc>
                <a:spcPts val="2592"/>
              </a:lnSpc>
              <a:buNone/>
            </a:pPr>
            <a:r>
              <a:rPr lang="en-US" sz="2592" dirty="0">
                <a:solidFill>
                  <a:srgbClr val="E5E0DF"/>
                </a:solidFill>
                <a:latin typeface="Barlow" pitchFamily="34" charset="0"/>
                <a:ea typeface="Barlow" pitchFamily="34" charset="-122"/>
                <a:cs typeface="Barlow" pitchFamily="34" charset="-120"/>
              </a:rPr>
              <a:t>3</a:t>
            </a:r>
            <a:endParaRPr lang="en-US" sz="2592" dirty="0"/>
          </a:p>
        </p:txBody>
      </p:sp>
      <p:sp>
        <p:nvSpPr>
          <p:cNvPr id="16" name="Text 13"/>
          <p:cNvSpPr/>
          <p:nvPr/>
        </p:nvSpPr>
        <p:spPr>
          <a:xfrm>
            <a:off x="10432375" y="3179564"/>
            <a:ext cx="2743200" cy="342900"/>
          </a:xfrm>
          <a:prstGeom prst="rect">
            <a:avLst/>
          </a:prstGeom>
          <a:noFill/>
          <a:ln/>
        </p:spPr>
        <p:txBody>
          <a:bodyPr wrap="none" rtlCol="0" anchor="t"/>
          <a:lstStyle/>
          <a:p>
            <a:pPr marL="0" indent="0">
              <a:lnSpc>
                <a:spcPts val="2700"/>
              </a:lnSpc>
              <a:buNone/>
            </a:pPr>
            <a:r>
              <a:rPr lang="en-US" sz="2160" dirty="0">
                <a:solidFill>
                  <a:srgbClr val="E5E0DF"/>
                </a:solidFill>
                <a:latin typeface="Barlow" pitchFamily="34" charset="0"/>
                <a:ea typeface="Barlow" pitchFamily="34" charset="-122"/>
                <a:cs typeface="Barlow" pitchFamily="34" charset="-120"/>
              </a:rPr>
              <a:t>Difficulty Levels</a:t>
            </a:r>
            <a:endParaRPr lang="en-US" sz="2160" dirty="0"/>
          </a:p>
        </p:txBody>
      </p:sp>
      <p:sp>
        <p:nvSpPr>
          <p:cNvPr id="17" name="Text 14"/>
          <p:cNvSpPr/>
          <p:nvPr/>
        </p:nvSpPr>
        <p:spPr>
          <a:xfrm>
            <a:off x="10432375" y="3670578"/>
            <a:ext cx="3333988" cy="1185148"/>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Players can select from various difficulty levels, ranging from easy to challenging.</a:t>
            </a:r>
            <a:endParaRPr lang="en-US" sz="1944" dirty="0"/>
          </a:p>
        </p:txBody>
      </p:sp>
      <p:sp>
        <p:nvSpPr>
          <p:cNvPr id="18" name="Shape 15"/>
          <p:cNvSpPr/>
          <p:nvPr/>
        </p:nvSpPr>
        <p:spPr>
          <a:xfrm>
            <a:off x="864037" y="5775246"/>
            <a:ext cx="555427" cy="555427"/>
          </a:xfrm>
          <a:prstGeom prst="roundRect">
            <a:avLst>
              <a:gd name="adj" fmla="val 18669"/>
            </a:avLst>
          </a:prstGeom>
          <a:solidFill>
            <a:srgbClr val="790709"/>
          </a:solidFill>
          <a:ln w="15240">
            <a:solidFill>
              <a:srgbClr val="922022"/>
            </a:solidFill>
            <a:prstDash val="solid"/>
          </a:ln>
        </p:spPr>
      </p:sp>
      <p:sp>
        <p:nvSpPr>
          <p:cNvPr id="19" name="Text 16"/>
          <p:cNvSpPr/>
          <p:nvPr/>
        </p:nvSpPr>
        <p:spPr>
          <a:xfrm>
            <a:off x="1047869" y="5888355"/>
            <a:ext cx="187643" cy="329208"/>
          </a:xfrm>
          <a:prstGeom prst="rect">
            <a:avLst/>
          </a:prstGeom>
          <a:noFill/>
          <a:ln/>
        </p:spPr>
        <p:txBody>
          <a:bodyPr wrap="none" rtlCol="0" anchor="t"/>
          <a:lstStyle/>
          <a:p>
            <a:pPr marL="0" indent="0" algn="ctr">
              <a:lnSpc>
                <a:spcPts val="2592"/>
              </a:lnSpc>
              <a:buNone/>
            </a:pPr>
            <a:r>
              <a:rPr lang="en-US" sz="2592" dirty="0">
                <a:solidFill>
                  <a:srgbClr val="E5E0DF"/>
                </a:solidFill>
                <a:latin typeface="Barlow" pitchFamily="34" charset="0"/>
                <a:ea typeface="Barlow" pitchFamily="34" charset="-122"/>
                <a:cs typeface="Barlow" pitchFamily="34" charset="-120"/>
              </a:rPr>
              <a:t>4</a:t>
            </a:r>
            <a:endParaRPr lang="en-US" sz="2592" dirty="0"/>
          </a:p>
        </p:txBody>
      </p:sp>
      <p:sp>
        <p:nvSpPr>
          <p:cNvPr id="20" name="Text 17"/>
          <p:cNvSpPr/>
          <p:nvPr/>
        </p:nvSpPr>
        <p:spPr>
          <a:xfrm>
            <a:off x="1666280" y="5775246"/>
            <a:ext cx="2743200" cy="342900"/>
          </a:xfrm>
          <a:prstGeom prst="rect">
            <a:avLst/>
          </a:prstGeom>
          <a:noFill/>
          <a:ln/>
        </p:spPr>
        <p:txBody>
          <a:bodyPr wrap="none" rtlCol="0" anchor="t"/>
          <a:lstStyle/>
          <a:p>
            <a:pPr marL="0" indent="0">
              <a:lnSpc>
                <a:spcPts val="2700"/>
              </a:lnSpc>
              <a:buNone/>
            </a:pPr>
            <a:r>
              <a:rPr lang="en-US" sz="2160" dirty="0">
                <a:solidFill>
                  <a:srgbClr val="E5E0DF"/>
                </a:solidFill>
                <a:latin typeface="Barlow" pitchFamily="34" charset="0"/>
                <a:ea typeface="Barlow" pitchFamily="34" charset="-122"/>
                <a:cs typeface="Barlow" pitchFamily="34" charset="-120"/>
              </a:rPr>
              <a:t>Solver </a:t>
            </a:r>
            <a:endParaRPr lang="en-US" sz="2160" dirty="0"/>
          </a:p>
        </p:txBody>
      </p:sp>
      <p:sp>
        <p:nvSpPr>
          <p:cNvPr id="21" name="Text 18"/>
          <p:cNvSpPr/>
          <p:nvPr/>
        </p:nvSpPr>
        <p:spPr>
          <a:xfrm>
            <a:off x="1666280" y="6266259"/>
            <a:ext cx="12100084" cy="790099"/>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The game also includes a solver feature that allows players to solve Sudoku puzzles using an algorithm that finds the correct solution. This feature can be used  to completely solve the puzzle for the player.</a:t>
            </a:r>
            <a:endParaRPr lang="en-US" sz="194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75000"/>
            </a:srgbClr>
          </a:solidFill>
          <a:ln/>
        </p:spPr>
      </p:sp>
      <p:sp>
        <p:nvSpPr>
          <p:cNvPr id="4" name="Text 1"/>
          <p:cNvSpPr/>
          <p:nvPr/>
        </p:nvSpPr>
        <p:spPr>
          <a:xfrm>
            <a:off x="1819989" y="515422"/>
            <a:ext cx="8018264" cy="519351"/>
          </a:xfrm>
          <a:prstGeom prst="rect">
            <a:avLst/>
          </a:prstGeom>
          <a:noFill/>
          <a:ln/>
        </p:spPr>
        <p:txBody>
          <a:bodyPr wrap="none" rtlCol="0" anchor="t"/>
          <a:lstStyle/>
          <a:p>
            <a:pPr marL="0" indent="0">
              <a:lnSpc>
                <a:spcPts val="4090"/>
              </a:lnSpc>
              <a:buNone/>
            </a:pPr>
            <a:r>
              <a:rPr lang="en-US" sz="3272" dirty="0">
                <a:solidFill>
                  <a:srgbClr val="FFFFFF"/>
                </a:solidFill>
                <a:latin typeface="Barlow" pitchFamily="34" charset="0"/>
                <a:ea typeface="Barlow" pitchFamily="34" charset="-122"/>
                <a:cs typeface="Barlow" pitchFamily="34" charset="-120"/>
              </a:rPr>
              <a:t>Pygame Sudoku Game Development Process</a:t>
            </a:r>
            <a:endParaRPr lang="en-US" sz="3272" dirty="0"/>
          </a:p>
        </p:txBody>
      </p:sp>
      <p:sp>
        <p:nvSpPr>
          <p:cNvPr id="5" name="Text 2"/>
          <p:cNvSpPr/>
          <p:nvPr/>
        </p:nvSpPr>
        <p:spPr>
          <a:xfrm>
            <a:off x="1819989" y="1408628"/>
            <a:ext cx="10990421" cy="299085"/>
          </a:xfrm>
          <a:prstGeom prst="rect">
            <a:avLst/>
          </a:prstGeom>
          <a:noFill/>
          <a:ln/>
        </p:spPr>
        <p:txBody>
          <a:bodyPr wrap="none" rtlCol="0" anchor="t"/>
          <a:lstStyle/>
          <a:p>
            <a:pPr marL="0" indent="0">
              <a:lnSpc>
                <a:spcPts val="2356"/>
              </a:lnSpc>
              <a:buNone/>
            </a:pPr>
            <a:r>
              <a:rPr lang="en-US" sz="1472" dirty="0">
                <a:solidFill>
                  <a:srgbClr val="E5E0DF"/>
                </a:solidFill>
                <a:latin typeface="Barlow" pitchFamily="34" charset="0"/>
                <a:ea typeface="Barlow" pitchFamily="34" charset="-122"/>
                <a:cs typeface="Barlow" pitchFamily="34" charset="-120"/>
              </a:rPr>
              <a:t>Developing the Pygame Sudoku game involved several steps, from design to implementation.</a:t>
            </a:r>
            <a:endParaRPr lang="en-US" sz="1472" dirty="0"/>
          </a:p>
        </p:txBody>
      </p:sp>
      <p:sp>
        <p:nvSpPr>
          <p:cNvPr id="6" name="Shape 3"/>
          <p:cNvSpPr/>
          <p:nvPr/>
        </p:nvSpPr>
        <p:spPr>
          <a:xfrm>
            <a:off x="7303770" y="1917978"/>
            <a:ext cx="22860" cy="5796201"/>
          </a:xfrm>
          <a:prstGeom prst="roundRect">
            <a:avLst>
              <a:gd name="adj" fmla="val 343540"/>
            </a:avLst>
          </a:prstGeom>
          <a:solidFill>
            <a:srgbClr val="922022"/>
          </a:solidFill>
          <a:ln/>
        </p:spPr>
      </p:sp>
      <p:sp>
        <p:nvSpPr>
          <p:cNvPr id="7" name="Shape 4"/>
          <p:cNvSpPr/>
          <p:nvPr/>
        </p:nvSpPr>
        <p:spPr>
          <a:xfrm>
            <a:off x="6473369" y="2327077"/>
            <a:ext cx="654368" cy="22860"/>
          </a:xfrm>
          <a:prstGeom prst="roundRect">
            <a:avLst>
              <a:gd name="adj" fmla="val 343540"/>
            </a:avLst>
          </a:prstGeom>
          <a:solidFill>
            <a:srgbClr val="922022"/>
          </a:solidFill>
          <a:ln/>
        </p:spPr>
      </p:sp>
      <p:sp>
        <p:nvSpPr>
          <p:cNvPr id="8" name="Shape 5"/>
          <p:cNvSpPr/>
          <p:nvPr/>
        </p:nvSpPr>
        <p:spPr>
          <a:xfrm>
            <a:off x="7104876" y="2128242"/>
            <a:ext cx="420648" cy="420648"/>
          </a:xfrm>
          <a:prstGeom prst="roundRect">
            <a:avLst>
              <a:gd name="adj" fmla="val 18670"/>
            </a:avLst>
          </a:prstGeom>
          <a:solidFill>
            <a:srgbClr val="790709"/>
          </a:solidFill>
          <a:ln w="7620">
            <a:solidFill>
              <a:srgbClr val="922022"/>
            </a:solidFill>
            <a:prstDash val="solid"/>
          </a:ln>
        </p:spPr>
      </p:sp>
      <p:sp>
        <p:nvSpPr>
          <p:cNvPr id="9" name="Text 6"/>
          <p:cNvSpPr/>
          <p:nvPr/>
        </p:nvSpPr>
        <p:spPr>
          <a:xfrm>
            <a:off x="7271325" y="2213848"/>
            <a:ext cx="87749" cy="249317"/>
          </a:xfrm>
          <a:prstGeom prst="rect">
            <a:avLst/>
          </a:prstGeom>
          <a:noFill/>
          <a:ln/>
        </p:spPr>
        <p:txBody>
          <a:bodyPr wrap="none" rtlCol="0" anchor="t"/>
          <a:lstStyle/>
          <a:p>
            <a:pPr marL="0" indent="0" algn="ctr">
              <a:lnSpc>
                <a:spcPts val="1963"/>
              </a:lnSpc>
              <a:buNone/>
            </a:pPr>
            <a:r>
              <a:rPr lang="en-US" sz="1963" dirty="0">
                <a:solidFill>
                  <a:srgbClr val="E5E0DF"/>
                </a:solidFill>
                <a:latin typeface="Barlow" pitchFamily="34" charset="0"/>
                <a:ea typeface="Barlow" pitchFamily="34" charset="-122"/>
                <a:cs typeface="Barlow" pitchFamily="34" charset="-120"/>
              </a:rPr>
              <a:t>1</a:t>
            </a:r>
            <a:endParaRPr lang="en-US" sz="1963" dirty="0"/>
          </a:p>
        </p:txBody>
      </p:sp>
      <p:sp>
        <p:nvSpPr>
          <p:cNvPr id="10" name="Text 7"/>
          <p:cNvSpPr/>
          <p:nvPr/>
        </p:nvSpPr>
        <p:spPr>
          <a:xfrm>
            <a:off x="4209336" y="2104906"/>
            <a:ext cx="2077522" cy="259675"/>
          </a:xfrm>
          <a:prstGeom prst="rect">
            <a:avLst/>
          </a:prstGeom>
          <a:noFill/>
          <a:ln/>
        </p:spPr>
        <p:txBody>
          <a:bodyPr wrap="none" rtlCol="0" anchor="t"/>
          <a:lstStyle/>
          <a:p>
            <a:pPr marL="0" indent="0" algn="r">
              <a:lnSpc>
                <a:spcPts val="2045"/>
              </a:lnSpc>
              <a:buNone/>
            </a:pPr>
            <a:r>
              <a:rPr lang="en-US" sz="1636" dirty="0">
                <a:solidFill>
                  <a:srgbClr val="E5E0DF"/>
                </a:solidFill>
                <a:latin typeface="Barlow" pitchFamily="34" charset="0"/>
                <a:ea typeface="Barlow" pitchFamily="34" charset="-122"/>
                <a:cs typeface="Barlow" pitchFamily="34" charset="-120"/>
              </a:rPr>
              <a:t>Game Design</a:t>
            </a:r>
            <a:endParaRPr lang="en-US" sz="1636" dirty="0"/>
          </a:p>
        </p:txBody>
      </p:sp>
      <p:sp>
        <p:nvSpPr>
          <p:cNvPr id="11" name="Text 8"/>
          <p:cNvSpPr/>
          <p:nvPr/>
        </p:nvSpPr>
        <p:spPr>
          <a:xfrm>
            <a:off x="1819989" y="2476738"/>
            <a:ext cx="4466868" cy="598170"/>
          </a:xfrm>
          <a:prstGeom prst="rect">
            <a:avLst/>
          </a:prstGeom>
          <a:noFill/>
          <a:ln/>
        </p:spPr>
        <p:txBody>
          <a:bodyPr wrap="square" rtlCol="0" anchor="t"/>
          <a:lstStyle/>
          <a:p>
            <a:pPr marL="0" indent="0" algn="r">
              <a:lnSpc>
                <a:spcPts val="2356"/>
              </a:lnSpc>
              <a:buNone/>
            </a:pPr>
            <a:r>
              <a:rPr lang="en-US" sz="1472" dirty="0">
                <a:solidFill>
                  <a:srgbClr val="E5E0DF"/>
                </a:solidFill>
                <a:latin typeface="Barlow" pitchFamily="34" charset="0"/>
                <a:ea typeface="Barlow" pitchFamily="34" charset="-122"/>
                <a:cs typeface="Barlow" pitchFamily="34" charset="-120"/>
              </a:rPr>
              <a:t>Planning the game interface, features, and gameplay mechanics.</a:t>
            </a:r>
            <a:endParaRPr lang="en-US" sz="1472" dirty="0"/>
          </a:p>
        </p:txBody>
      </p:sp>
      <p:sp>
        <p:nvSpPr>
          <p:cNvPr id="12" name="Shape 9"/>
          <p:cNvSpPr/>
          <p:nvPr/>
        </p:nvSpPr>
        <p:spPr>
          <a:xfrm>
            <a:off x="7502664" y="3261836"/>
            <a:ext cx="654368" cy="22860"/>
          </a:xfrm>
          <a:prstGeom prst="roundRect">
            <a:avLst>
              <a:gd name="adj" fmla="val 343540"/>
            </a:avLst>
          </a:prstGeom>
          <a:solidFill>
            <a:srgbClr val="922022"/>
          </a:solidFill>
          <a:ln/>
        </p:spPr>
      </p:sp>
      <p:sp>
        <p:nvSpPr>
          <p:cNvPr id="13" name="Shape 10"/>
          <p:cNvSpPr/>
          <p:nvPr/>
        </p:nvSpPr>
        <p:spPr>
          <a:xfrm>
            <a:off x="7104876" y="3063002"/>
            <a:ext cx="420648" cy="420648"/>
          </a:xfrm>
          <a:prstGeom prst="roundRect">
            <a:avLst>
              <a:gd name="adj" fmla="val 18670"/>
            </a:avLst>
          </a:prstGeom>
          <a:solidFill>
            <a:srgbClr val="790709"/>
          </a:solidFill>
          <a:ln w="7620">
            <a:solidFill>
              <a:srgbClr val="922022"/>
            </a:solidFill>
            <a:prstDash val="solid"/>
          </a:ln>
        </p:spPr>
      </p:sp>
      <p:sp>
        <p:nvSpPr>
          <p:cNvPr id="14" name="Text 11"/>
          <p:cNvSpPr/>
          <p:nvPr/>
        </p:nvSpPr>
        <p:spPr>
          <a:xfrm>
            <a:off x="7247394" y="3148608"/>
            <a:ext cx="135612" cy="249317"/>
          </a:xfrm>
          <a:prstGeom prst="rect">
            <a:avLst/>
          </a:prstGeom>
          <a:noFill/>
          <a:ln/>
        </p:spPr>
        <p:txBody>
          <a:bodyPr wrap="none" rtlCol="0" anchor="t"/>
          <a:lstStyle/>
          <a:p>
            <a:pPr marL="0" indent="0" algn="ctr">
              <a:lnSpc>
                <a:spcPts val="1963"/>
              </a:lnSpc>
              <a:buNone/>
            </a:pPr>
            <a:r>
              <a:rPr lang="en-US" sz="1963" dirty="0">
                <a:solidFill>
                  <a:srgbClr val="E5E0DF"/>
                </a:solidFill>
                <a:latin typeface="Barlow" pitchFamily="34" charset="0"/>
                <a:ea typeface="Barlow" pitchFamily="34" charset="-122"/>
                <a:cs typeface="Barlow" pitchFamily="34" charset="-120"/>
              </a:rPr>
              <a:t>2</a:t>
            </a:r>
            <a:endParaRPr lang="en-US" sz="1963" dirty="0"/>
          </a:p>
        </p:txBody>
      </p:sp>
      <p:sp>
        <p:nvSpPr>
          <p:cNvPr id="15" name="Text 12"/>
          <p:cNvSpPr/>
          <p:nvPr/>
        </p:nvSpPr>
        <p:spPr>
          <a:xfrm>
            <a:off x="8343543" y="3039666"/>
            <a:ext cx="2077522" cy="259675"/>
          </a:xfrm>
          <a:prstGeom prst="rect">
            <a:avLst/>
          </a:prstGeom>
          <a:noFill/>
          <a:ln/>
        </p:spPr>
        <p:txBody>
          <a:bodyPr wrap="none" rtlCol="0" anchor="t"/>
          <a:lstStyle/>
          <a:p>
            <a:pPr marL="0" indent="0" algn="l">
              <a:lnSpc>
                <a:spcPts val="2045"/>
              </a:lnSpc>
              <a:buNone/>
            </a:pPr>
            <a:r>
              <a:rPr lang="en-US" sz="1636" dirty="0">
                <a:solidFill>
                  <a:srgbClr val="E5E0DF"/>
                </a:solidFill>
                <a:latin typeface="Barlow" pitchFamily="34" charset="0"/>
                <a:ea typeface="Barlow" pitchFamily="34" charset="-122"/>
                <a:cs typeface="Barlow" pitchFamily="34" charset="-120"/>
              </a:rPr>
              <a:t>Grid Implementation</a:t>
            </a:r>
            <a:endParaRPr lang="en-US" sz="1636" dirty="0"/>
          </a:p>
        </p:txBody>
      </p:sp>
      <p:sp>
        <p:nvSpPr>
          <p:cNvPr id="16" name="Text 13"/>
          <p:cNvSpPr/>
          <p:nvPr/>
        </p:nvSpPr>
        <p:spPr>
          <a:xfrm>
            <a:off x="8343543" y="3411498"/>
            <a:ext cx="4466868" cy="299085"/>
          </a:xfrm>
          <a:prstGeom prst="rect">
            <a:avLst/>
          </a:prstGeom>
          <a:noFill/>
          <a:ln/>
        </p:spPr>
        <p:txBody>
          <a:bodyPr wrap="none" rtlCol="0" anchor="t"/>
          <a:lstStyle/>
          <a:p>
            <a:pPr marL="0" indent="0" algn="l">
              <a:lnSpc>
                <a:spcPts val="2356"/>
              </a:lnSpc>
              <a:buNone/>
            </a:pPr>
            <a:r>
              <a:rPr lang="en-US" sz="1472" dirty="0">
                <a:solidFill>
                  <a:srgbClr val="E5E0DF"/>
                </a:solidFill>
                <a:latin typeface="Barlow" pitchFamily="34" charset="0"/>
                <a:ea typeface="Barlow" pitchFamily="34" charset="-122"/>
                <a:cs typeface="Barlow" pitchFamily="34" charset="-120"/>
              </a:rPr>
              <a:t>Creating the Sudoku grid and implementing grid logic.</a:t>
            </a:r>
            <a:endParaRPr lang="en-US" sz="1472" dirty="0"/>
          </a:p>
        </p:txBody>
      </p:sp>
      <p:sp>
        <p:nvSpPr>
          <p:cNvPr id="17" name="Shape 14"/>
          <p:cNvSpPr/>
          <p:nvPr/>
        </p:nvSpPr>
        <p:spPr>
          <a:xfrm>
            <a:off x="6473369" y="4103132"/>
            <a:ext cx="654368" cy="22860"/>
          </a:xfrm>
          <a:prstGeom prst="roundRect">
            <a:avLst>
              <a:gd name="adj" fmla="val 343540"/>
            </a:avLst>
          </a:prstGeom>
          <a:solidFill>
            <a:srgbClr val="922022"/>
          </a:solidFill>
          <a:ln/>
        </p:spPr>
      </p:sp>
      <p:sp>
        <p:nvSpPr>
          <p:cNvPr id="18" name="Shape 15"/>
          <p:cNvSpPr/>
          <p:nvPr/>
        </p:nvSpPr>
        <p:spPr>
          <a:xfrm>
            <a:off x="7104876" y="3904297"/>
            <a:ext cx="420648" cy="420648"/>
          </a:xfrm>
          <a:prstGeom prst="roundRect">
            <a:avLst>
              <a:gd name="adj" fmla="val 18670"/>
            </a:avLst>
          </a:prstGeom>
          <a:solidFill>
            <a:srgbClr val="790709"/>
          </a:solidFill>
          <a:ln w="7620">
            <a:solidFill>
              <a:srgbClr val="922022"/>
            </a:solidFill>
            <a:prstDash val="solid"/>
          </a:ln>
        </p:spPr>
      </p:sp>
      <p:sp>
        <p:nvSpPr>
          <p:cNvPr id="19" name="Text 16"/>
          <p:cNvSpPr/>
          <p:nvPr/>
        </p:nvSpPr>
        <p:spPr>
          <a:xfrm>
            <a:off x="7249894" y="3989903"/>
            <a:ext cx="130612" cy="249317"/>
          </a:xfrm>
          <a:prstGeom prst="rect">
            <a:avLst/>
          </a:prstGeom>
          <a:noFill/>
          <a:ln/>
        </p:spPr>
        <p:txBody>
          <a:bodyPr wrap="none" rtlCol="0" anchor="t"/>
          <a:lstStyle/>
          <a:p>
            <a:pPr marL="0" indent="0" algn="ctr">
              <a:lnSpc>
                <a:spcPts val="1963"/>
              </a:lnSpc>
              <a:buNone/>
            </a:pPr>
            <a:r>
              <a:rPr lang="en-US" sz="1963" dirty="0">
                <a:solidFill>
                  <a:srgbClr val="E5E0DF"/>
                </a:solidFill>
                <a:latin typeface="Barlow" pitchFamily="34" charset="0"/>
                <a:ea typeface="Barlow" pitchFamily="34" charset="-122"/>
                <a:cs typeface="Barlow" pitchFamily="34" charset="-120"/>
              </a:rPr>
              <a:t>3</a:t>
            </a:r>
            <a:endParaRPr lang="en-US" sz="1963" dirty="0"/>
          </a:p>
        </p:txBody>
      </p:sp>
      <p:sp>
        <p:nvSpPr>
          <p:cNvPr id="20" name="Text 17"/>
          <p:cNvSpPr/>
          <p:nvPr/>
        </p:nvSpPr>
        <p:spPr>
          <a:xfrm>
            <a:off x="4209336" y="3880961"/>
            <a:ext cx="2077522" cy="259675"/>
          </a:xfrm>
          <a:prstGeom prst="rect">
            <a:avLst/>
          </a:prstGeom>
          <a:noFill/>
          <a:ln/>
        </p:spPr>
        <p:txBody>
          <a:bodyPr wrap="none" rtlCol="0" anchor="t"/>
          <a:lstStyle/>
          <a:p>
            <a:pPr marL="0" indent="0" algn="r">
              <a:lnSpc>
                <a:spcPts val="2045"/>
              </a:lnSpc>
              <a:buNone/>
            </a:pPr>
            <a:r>
              <a:rPr lang="en-US" sz="1636" dirty="0">
                <a:solidFill>
                  <a:srgbClr val="E5E0DF"/>
                </a:solidFill>
                <a:latin typeface="Barlow" pitchFamily="34" charset="0"/>
                <a:ea typeface="Barlow" pitchFamily="34" charset="-122"/>
                <a:cs typeface="Barlow" pitchFamily="34" charset="-120"/>
              </a:rPr>
              <a:t>User Input Handling</a:t>
            </a:r>
            <a:endParaRPr lang="en-US" sz="1636" dirty="0"/>
          </a:p>
        </p:txBody>
      </p:sp>
      <p:sp>
        <p:nvSpPr>
          <p:cNvPr id="21" name="Text 18"/>
          <p:cNvSpPr/>
          <p:nvPr/>
        </p:nvSpPr>
        <p:spPr>
          <a:xfrm>
            <a:off x="1819989" y="4252793"/>
            <a:ext cx="4466868" cy="598170"/>
          </a:xfrm>
          <a:prstGeom prst="rect">
            <a:avLst/>
          </a:prstGeom>
          <a:noFill/>
          <a:ln/>
        </p:spPr>
        <p:txBody>
          <a:bodyPr wrap="square" rtlCol="0" anchor="t"/>
          <a:lstStyle/>
          <a:p>
            <a:pPr marL="0" indent="0" algn="r">
              <a:lnSpc>
                <a:spcPts val="2356"/>
              </a:lnSpc>
              <a:buNone/>
            </a:pPr>
            <a:r>
              <a:rPr lang="en-US" sz="1472" dirty="0">
                <a:solidFill>
                  <a:srgbClr val="E5E0DF"/>
                </a:solidFill>
                <a:latin typeface="Barlow" pitchFamily="34" charset="0"/>
                <a:ea typeface="Barlow" pitchFamily="34" charset="-122"/>
                <a:cs typeface="Barlow" pitchFamily="34" charset="-120"/>
              </a:rPr>
              <a:t>Implementing user input for number entry and cell selection.</a:t>
            </a:r>
            <a:endParaRPr lang="en-US" sz="1472" dirty="0"/>
          </a:p>
        </p:txBody>
      </p:sp>
      <p:sp>
        <p:nvSpPr>
          <p:cNvPr id="22" name="Shape 19"/>
          <p:cNvSpPr/>
          <p:nvPr/>
        </p:nvSpPr>
        <p:spPr>
          <a:xfrm>
            <a:off x="7502664" y="4944547"/>
            <a:ext cx="654368" cy="22860"/>
          </a:xfrm>
          <a:prstGeom prst="roundRect">
            <a:avLst>
              <a:gd name="adj" fmla="val 343540"/>
            </a:avLst>
          </a:prstGeom>
          <a:solidFill>
            <a:srgbClr val="922022"/>
          </a:solidFill>
          <a:ln/>
        </p:spPr>
      </p:sp>
      <p:sp>
        <p:nvSpPr>
          <p:cNvPr id="23" name="Shape 20"/>
          <p:cNvSpPr/>
          <p:nvPr/>
        </p:nvSpPr>
        <p:spPr>
          <a:xfrm>
            <a:off x="7104876" y="4745712"/>
            <a:ext cx="420648" cy="420648"/>
          </a:xfrm>
          <a:prstGeom prst="roundRect">
            <a:avLst>
              <a:gd name="adj" fmla="val 18670"/>
            </a:avLst>
          </a:prstGeom>
          <a:solidFill>
            <a:srgbClr val="790709"/>
          </a:solidFill>
          <a:ln w="7620">
            <a:solidFill>
              <a:srgbClr val="922022"/>
            </a:solidFill>
            <a:prstDash val="solid"/>
          </a:ln>
        </p:spPr>
      </p:sp>
      <p:sp>
        <p:nvSpPr>
          <p:cNvPr id="24" name="Text 21"/>
          <p:cNvSpPr/>
          <p:nvPr/>
        </p:nvSpPr>
        <p:spPr>
          <a:xfrm>
            <a:off x="7244060" y="4831318"/>
            <a:ext cx="142161" cy="249317"/>
          </a:xfrm>
          <a:prstGeom prst="rect">
            <a:avLst/>
          </a:prstGeom>
          <a:noFill/>
          <a:ln/>
        </p:spPr>
        <p:txBody>
          <a:bodyPr wrap="none" rtlCol="0" anchor="t"/>
          <a:lstStyle/>
          <a:p>
            <a:pPr marL="0" indent="0" algn="ctr">
              <a:lnSpc>
                <a:spcPts val="1963"/>
              </a:lnSpc>
              <a:buNone/>
            </a:pPr>
            <a:r>
              <a:rPr lang="en-US" sz="1963" dirty="0">
                <a:solidFill>
                  <a:srgbClr val="E5E0DF"/>
                </a:solidFill>
                <a:latin typeface="Barlow" pitchFamily="34" charset="0"/>
                <a:ea typeface="Barlow" pitchFamily="34" charset="-122"/>
                <a:cs typeface="Barlow" pitchFamily="34" charset="-120"/>
              </a:rPr>
              <a:t>4</a:t>
            </a:r>
            <a:endParaRPr lang="en-US" sz="1963" dirty="0"/>
          </a:p>
        </p:txBody>
      </p:sp>
      <p:sp>
        <p:nvSpPr>
          <p:cNvPr id="25" name="Text 22"/>
          <p:cNvSpPr/>
          <p:nvPr/>
        </p:nvSpPr>
        <p:spPr>
          <a:xfrm>
            <a:off x="8343543" y="4722376"/>
            <a:ext cx="2077522" cy="259675"/>
          </a:xfrm>
          <a:prstGeom prst="rect">
            <a:avLst/>
          </a:prstGeom>
          <a:noFill/>
          <a:ln/>
        </p:spPr>
        <p:txBody>
          <a:bodyPr wrap="none" rtlCol="0" anchor="t"/>
          <a:lstStyle/>
          <a:p>
            <a:pPr marL="0" indent="0" algn="l">
              <a:lnSpc>
                <a:spcPts val="2045"/>
              </a:lnSpc>
              <a:buNone/>
            </a:pPr>
            <a:r>
              <a:rPr lang="en-US" sz="1636" dirty="0">
                <a:solidFill>
                  <a:srgbClr val="E5E0DF"/>
                </a:solidFill>
                <a:latin typeface="Barlow" pitchFamily="34" charset="0"/>
                <a:ea typeface="Barlow" pitchFamily="34" charset="-122"/>
                <a:cs typeface="Barlow" pitchFamily="34" charset="-120"/>
              </a:rPr>
              <a:t>Game Logic</a:t>
            </a:r>
            <a:endParaRPr lang="en-US" sz="1636" dirty="0"/>
          </a:p>
        </p:txBody>
      </p:sp>
      <p:sp>
        <p:nvSpPr>
          <p:cNvPr id="26" name="Text 23"/>
          <p:cNvSpPr/>
          <p:nvPr/>
        </p:nvSpPr>
        <p:spPr>
          <a:xfrm>
            <a:off x="8343543" y="5094208"/>
            <a:ext cx="4466868" cy="598170"/>
          </a:xfrm>
          <a:prstGeom prst="rect">
            <a:avLst/>
          </a:prstGeom>
          <a:noFill/>
          <a:ln/>
        </p:spPr>
        <p:txBody>
          <a:bodyPr wrap="square" rtlCol="0" anchor="t"/>
          <a:lstStyle/>
          <a:p>
            <a:pPr marL="0" indent="0" algn="l">
              <a:lnSpc>
                <a:spcPts val="2356"/>
              </a:lnSpc>
              <a:buNone/>
            </a:pPr>
            <a:r>
              <a:rPr lang="en-US" sz="1472" dirty="0">
                <a:solidFill>
                  <a:srgbClr val="E5E0DF"/>
                </a:solidFill>
                <a:latin typeface="Barlow" pitchFamily="34" charset="0"/>
                <a:ea typeface="Barlow" pitchFamily="34" charset="-122"/>
                <a:cs typeface="Barlow" pitchFamily="34" charset="-120"/>
              </a:rPr>
              <a:t>Developing the game logic for error checking, puzzle generation, and solving.</a:t>
            </a:r>
            <a:endParaRPr lang="en-US" sz="1472" dirty="0"/>
          </a:p>
        </p:txBody>
      </p:sp>
      <p:sp>
        <p:nvSpPr>
          <p:cNvPr id="27" name="Shape 24"/>
          <p:cNvSpPr/>
          <p:nvPr/>
        </p:nvSpPr>
        <p:spPr>
          <a:xfrm>
            <a:off x="6473369" y="5785961"/>
            <a:ext cx="654368" cy="22860"/>
          </a:xfrm>
          <a:prstGeom prst="roundRect">
            <a:avLst>
              <a:gd name="adj" fmla="val 343540"/>
            </a:avLst>
          </a:prstGeom>
          <a:solidFill>
            <a:srgbClr val="922022"/>
          </a:solidFill>
          <a:ln/>
        </p:spPr>
      </p:sp>
      <p:sp>
        <p:nvSpPr>
          <p:cNvPr id="28" name="Shape 25"/>
          <p:cNvSpPr/>
          <p:nvPr/>
        </p:nvSpPr>
        <p:spPr>
          <a:xfrm>
            <a:off x="7104876" y="5587127"/>
            <a:ext cx="420648" cy="420648"/>
          </a:xfrm>
          <a:prstGeom prst="roundRect">
            <a:avLst>
              <a:gd name="adj" fmla="val 18670"/>
            </a:avLst>
          </a:prstGeom>
          <a:solidFill>
            <a:srgbClr val="790709"/>
          </a:solidFill>
          <a:ln w="7620">
            <a:solidFill>
              <a:srgbClr val="922022"/>
            </a:solidFill>
            <a:prstDash val="solid"/>
          </a:ln>
        </p:spPr>
      </p:sp>
      <p:sp>
        <p:nvSpPr>
          <p:cNvPr id="29" name="Text 26"/>
          <p:cNvSpPr/>
          <p:nvPr/>
        </p:nvSpPr>
        <p:spPr>
          <a:xfrm>
            <a:off x="7250013" y="5672733"/>
            <a:ext cx="130373" cy="249317"/>
          </a:xfrm>
          <a:prstGeom prst="rect">
            <a:avLst/>
          </a:prstGeom>
          <a:noFill/>
          <a:ln/>
        </p:spPr>
        <p:txBody>
          <a:bodyPr wrap="none" rtlCol="0" anchor="t"/>
          <a:lstStyle/>
          <a:p>
            <a:pPr marL="0" indent="0" algn="ctr">
              <a:lnSpc>
                <a:spcPts val="1963"/>
              </a:lnSpc>
              <a:buNone/>
            </a:pPr>
            <a:r>
              <a:rPr lang="en-US" sz="1963" dirty="0">
                <a:solidFill>
                  <a:srgbClr val="E5E0DF"/>
                </a:solidFill>
                <a:latin typeface="Barlow" pitchFamily="34" charset="0"/>
                <a:ea typeface="Barlow" pitchFamily="34" charset="-122"/>
                <a:cs typeface="Barlow" pitchFamily="34" charset="-120"/>
              </a:rPr>
              <a:t>5</a:t>
            </a:r>
            <a:endParaRPr lang="en-US" sz="1963" dirty="0"/>
          </a:p>
        </p:txBody>
      </p:sp>
      <p:sp>
        <p:nvSpPr>
          <p:cNvPr id="30" name="Text 27"/>
          <p:cNvSpPr/>
          <p:nvPr/>
        </p:nvSpPr>
        <p:spPr>
          <a:xfrm>
            <a:off x="4209336" y="5563791"/>
            <a:ext cx="2077522" cy="259675"/>
          </a:xfrm>
          <a:prstGeom prst="rect">
            <a:avLst/>
          </a:prstGeom>
          <a:noFill/>
          <a:ln/>
        </p:spPr>
        <p:txBody>
          <a:bodyPr wrap="none" rtlCol="0" anchor="t"/>
          <a:lstStyle/>
          <a:p>
            <a:pPr marL="0" indent="0" algn="r">
              <a:lnSpc>
                <a:spcPts val="2045"/>
              </a:lnSpc>
              <a:buNone/>
            </a:pPr>
            <a:r>
              <a:rPr lang="en-US" sz="1636" dirty="0">
                <a:solidFill>
                  <a:srgbClr val="E5E0DF"/>
                </a:solidFill>
                <a:latin typeface="Barlow" pitchFamily="34" charset="0"/>
                <a:ea typeface="Barlow" pitchFamily="34" charset="-122"/>
                <a:cs typeface="Barlow" pitchFamily="34" charset="-120"/>
              </a:rPr>
              <a:t>Graphical Interface</a:t>
            </a:r>
            <a:endParaRPr lang="en-US" sz="1636" dirty="0"/>
          </a:p>
        </p:txBody>
      </p:sp>
      <p:sp>
        <p:nvSpPr>
          <p:cNvPr id="31" name="Text 28"/>
          <p:cNvSpPr/>
          <p:nvPr/>
        </p:nvSpPr>
        <p:spPr>
          <a:xfrm>
            <a:off x="1819989" y="5935623"/>
            <a:ext cx="4466868" cy="598170"/>
          </a:xfrm>
          <a:prstGeom prst="rect">
            <a:avLst/>
          </a:prstGeom>
          <a:noFill/>
          <a:ln/>
        </p:spPr>
        <p:txBody>
          <a:bodyPr wrap="square" rtlCol="0" anchor="t"/>
          <a:lstStyle/>
          <a:p>
            <a:pPr marL="0" indent="0" algn="r">
              <a:lnSpc>
                <a:spcPts val="2356"/>
              </a:lnSpc>
              <a:buNone/>
            </a:pPr>
            <a:r>
              <a:rPr lang="en-US" sz="1472" dirty="0">
                <a:solidFill>
                  <a:srgbClr val="E5E0DF"/>
                </a:solidFill>
                <a:latin typeface="Barlow" pitchFamily="34" charset="0"/>
                <a:ea typeface="Barlow" pitchFamily="34" charset="-122"/>
                <a:cs typeface="Barlow" pitchFamily="34" charset="-120"/>
              </a:rPr>
              <a:t>Designing and implementing the game's graphical interface using Pygame.</a:t>
            </a:r>
            <a:endParaRPr lang="en-US" sz="1472" dirty="0"/>
          </a:p>
        </p:txBody>
      </p:sp>
      <p:sp>
        <p:nvSpPr>
          <p:cNvPr id="32" name="Shape 29"/>
          <p:cNvSpPr/>
          <p:nvPr/>
        </p:nvSpPr>
        <p:spPr>
          <a:xfrm>
            <a:off x="7502664" y="6627376"/>
            <a:ext cx="654368" cy="22860"/>
          </a:xfrm>
          <a:prstGeom prst="roundRect">
            <a:avLst>
              <a:gd name="adj" fmla="val 343540"/>
            </a:avLst>
          </a:prstGeom>
          <a:solidFill>
            <a:srgbClr val="922022"/>
          </a:solidFill>
          <a:ln/>
        </p:spPr>
      </p:sp>
      <p:sp>
        <p:nvSpPr>
          <p:cNvPr id="33" name="Shape 30"/>
          <p:cNvSpPr/>
          <p:nvPr/>
        </p:nvSpPr>
        <p:spPr>
          <a:xfrm>
            <a:off x="7104876" y="6428542"/>
            <a:ext cx="420648" cy="420648"/>
          </a:xfrm>
          <a:prstGeom prst="roundRect">
            <a:avLst>
              <a:gd name="adj" fmla="val 18670"/>
            </a:avLst>
          </a:prstGeom>
          <a:solidFill>
            <a:srgbClr val="790709"/>
          </a:solidFill>
          <a:ln w="7620">
            <a:solidFill>
              <a:srgbClr val="922022"/>
            </a:solidFill>
            <a:prstDash val="solid"/>
          </a:ln>
        </p:spPr>
      </p:sp>
      <p:sp>
        <p:nvSpPr>
          <p:cNvPr id="34" name="Text 31"/>
          <p:cNvSpPr/>
          <p:nvPr/>
        </p:nvSpPr>
        <p:spPr>
          <a:xfrm>
            <a:off x="7250013" y="6514148"/>
            <a:ext cx="130373" cy="249317"/>
          </a:xfrm>
          <a:prstGeom prst="rect">
            <a:avLst/>
          </a:prstGeom>
          <a:noFill/>
          <a:ln/>
        </p:spPr>
        <p:txBody>
          <a:bodyPr wrap="none" rtlCol="0" anchor="t"/>
          <a:lstStyle/>
          <a:p>
            <a:pPr marL="0" indent="0" algn="ctr">
              <a:lnSpc>
                <a:spcPts val="1963"/>
              </a:lnSpc>
              <a:buNone/>
            </a:pPr>
            <a:r>
              <a:rPr lang="en-US" sz="1963" dirty="0">
                <a:solidFill>
                  <a:srgbClr val="E5E0DF"/>
                </a:solidFill>
                <a:latin typeface="Barlow" pitchFamily="34" charset="0"/>
                <a:ea typeface="Barlow" pitchFamily="34" charset="-122"/>
                <a:cs typeface="Barlow" pitchFamily="34" charset="-120"/>
              </a:rPr>
              <a:t>6</a:t>
            </a:r>
            <a:endParaRPr lang="en-US" sz="1963" dirty="0"/>
          </a:p>
        </p:txBody>
      </p:sp>
      <p:sp>
        <p:nvSpPr>
          <p:cNvPr id="35" name="Text 32"/>
          <p:cNvSpPr/>
          <p:nvPr/>
        </p:nvSpPr>
        <p:spPr>
          <a:xfrm>
            <a:off x="8343543" y="6405205"/>
            <a:ext cx="2144197" cy="259675"/>
          </a:xfrm>
          <a:prstGeom prst="rect">
            <a:avLst/>
          </a:prstGeom>
          <a:noFill/>
          <a:ln/>
        </p:spPr>
        <p:txBody>
          <a:bodyPr wrap="none" rtlCol="0" anchor="t"/>
          <a:lstStyle/>
          <a:p>
            <a:pPr marL="0" indent="0" algn="l">
              <a:lnSpc>
                <a:spcPts val="2045"/>
              </a:lnSpc>
              <a:buNone/>
            </a:pPr>
            <a:r>
              <a:rPr lang="en-US" sz="1636" dirty="0">
                <a:solidFill>
                  <a:srgbClr val="E5E0DF"/>
                </a:solidFill>
                <a:latin typeface="Barlow" pitchFamily="34" charset="0"/>
                <a:ea typeface="Barlow" pitchFamily="34" charset="-122"/>
                <a:cs typeface="Barlow" pitchFamily="34" charset="-120"/>
              </a:rPr>
              <a:t>Testing and Refinement</a:t>
            </a:r>
            <a:endParaRPr lang="en-US" sz="1636" dirty="0"/>
          </a:p>
        </p:txBody>
      </p:sp>
      <p:sp>
        <p:nvSpPr>
          <p:cNvPr id="36" name="Text 33"/>
          <p:cNvSpPr/>
          <p:nvPr/>
        </p:nvSpPr>
        <p:spPr>
          <a:xfrm>
            <a:off x="8343543" y="6777038"/>
            <a:ext cx="4466868" cy="598170"/>
          </a:xfrm>
          <a:prstGeom prst="rect">
            <a:avLst/>
          </a:prstGeom>
          <a:noFill/>
          <a:ln/>
        </p:spPr>
        <p:txBody>
          <a:bodyPr wrap="square" rtlCol="0" anchor="t"/>
          <a:lstStyle/>
          <a:p>
            <a:pPr marL="0" indent="0" algn="l">
              <a:lnSpc>
                <a:spcPts val="2356"/>
              </a:lnSpc>
              <a:buNone/>
            </a:pPr>
            <a:r>
              <a:rPr lang="en-US" sz="1472" dirty="0">
                <a:solidFill>
                  <a:srgbClr val="E5E0DF"/>
                </a:solidFill>
                <a:latin typeface="Barlow" pitchFamily="34" charset="0"/>
                <a:ea typeface="Barlow" pitchFamily="34" charset="-122"/>
                <a:cs typeface="Barlow" pitchFamily="34" charset="-120"/>
              </a:rPr>
              <a:t>Thoroughly testing the game, identifying and fixing bugs, and refining the user experience.</a:t>
            </a:r>
            <a:endParaRPr lang="en-US" sz="147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75000"/>
            </a:srgbClr>
          </a:solidFill>
          <a:ln/>
        </p:spPr>
      </p:sp>
      <p:sp>
        <p:nvSpPr>
          <p:cNvPr id="4" name="Text 1"/>
          <p:cNvSpPr/>
          <p:nvPr/>
        </p:nvSpPr>
        <p:spPr>
          <a:xfrm>
            <a:off x="1661398" y="686395"/>
            <a:ext cx="5076230" cy="534352"/>
          </a:xfrm>
          <a:prstGeom prst="rect">
            <a:avLst/>
          </a:prstGeom>
          <a:noFill/>
          <a:ln/>
        </p:spPr>
        <p:txBody>
          <a:bodyPr wrap="none" rtlCol="0" anchor="t"/>
          <a:lstStyle/>
          <a:p>
            <a:pPr marL="0" indent="0">
              <a:lnSpc>
                <a:spcPts val="4208"/>
              </a:lnSpc>
              <a:buNone/>
            </a:pPr>
            <a:r>
              <a:rPr lang="en-US" sz="3366" dirty="0">
                <a:solidFill>
                  <a:srgbClr val="FFFFFF"/>
                </a:solidFill>
                <a:latin typeface="Barlow" pitchFamily="34" charset="0"/>
                <a:ea typeface="Barlow" pitchFamily="34" charset="-122"/>
                <a:cs typeface="Barlow" pitchFamily="34" charset="-120"/>
              </a:rPr>
              <a:t>Sudoku Game using Tkinter</a:t>
            </a:r>
            <a:endParaRPr lang="en-US" sz="3366" dirty="0"/>
          </a:p>
        </p:txBody>
      </p:sp>
      <p:sp>
        <p:nvSpPr>
          <p:cNvPr id="5" name="Text 2"/>
          <p:cNvSpPr/>
          <p:nvPr/>
        </p:nvSpPr>
        <p:spPr>
          <a:xfrm>
            <a:off x="1661398" y="1605439"/>
            <a:ext cx="11307604" cy="307777"/>
          </a:xfrm>
          <a:prstGeom prst="rect">
            <a:avLst/>
          </a:prstGeom>
          <a:noFill/>
          <a:ln/>
        </p:spPr>
        <p:txBody>
          <a:bodyPr wrap="none" rtlCol="0" anchor="t"/>
          <a:lstStyle/>
          <a:p>
            <a:pPr marL="0" indent="0">
              <a:lnSpc>
                <a:spcPts val="2424"/>
              </a:lnSpc>
              <a:buNone/>
            </a:pPr>
            <a:r>
              <a:rPr lang="en-US" sz="1515" dirty="0">
                <a:solidFill>
                  <a:srgbClr val="E5E0DF"/>
                </a:solidFill>
                <a:latin typeface="Barlow" pitchFamily="34" charset="0"/>
                <a:ea typeface="Barlow" pitchFamily="34" charset="-122"/>
                <a:cs typeface="Barlow" pitchFamily="34" charset="-120"/>
              </a:rPr>
              <a:t>The Tkinter Sudoku game provides a more basic and straightforward user interface, relying on Tkinter's widgets and layout capabilities.</a:t>
            </a:r>
            <a:endParaRPr lang="en-US" sz="1515" dirty="0"/>
          </a:p>
        </p:txBody>
      </p:sp>
      <p:sp>
        <p:nvSpPr>
          <p:cNvPr id="6" name="Shape 3"/>
          <p:cNvSpPr/>
          <p:nvPr/>
        </p:nvSpPr>
        <p:spPr>
          <a:xfrm>
            <a:off x="1661398" y="2869280"/>
            <a:ext cx="5557718" cy="3754881"/>
          </a:xfrm>
          <a:prstGeom prst="roundRect">
            <a:avLst>
              <a:gd name="adj" fmla="val 1493"/>
            </a:avLst>
          </a:prstGeom>
          <a:solidFill>
            <a:srgbClr val="790709"/>
          </a:solidFill>
          <a:ln w="7620">
            <a:solidFill>
              <a:srgbClr val="922022"/>
            </a:solidFill>
            <a:prstDash val="solid"/>
          </a:ln>
        </p:spPr>
      </p:sp>
      <p:sp>
        <p:nvSpPr>
          <p:cNvPr id="7" name="Text 4"/>
          <p:cNvSpPr/>
          <p:nvPr/>
        </p:nvSpPr>
        <p:spPr>
          <a:xfrm>
            <a:off x="1861304" y="3184770"/>
            <a:ext cx="2137529" cy="267057"/>
          </a:xfrm>
          <a:prstGeom prst="rect">
            <a:avLst/>
          </a:prstGeom>
          <a:noFill/>
          <a:ln/>
        </p:spPr>
        <p:txBody>
          <a:bodyPr wrap="none" rtlCol="0" anchor="t"/>
          <a:lstStyle/>
          <a:p>
            <a:pPr marL="0" indent="0">
              <a:lnSpc>
                <a:spcPts val="2104"/>
              </a:lnSpc>
              <a:buNone/>
            </a:pPr>
            <a:r>
              <a:rPr lang="en-US" sz="1683" dirty="0">
                <a:solidFill>
                  <a:srgbClr val="E5E0DF"/>
                </a:solidFill>
                <a:latin typeface="Barlow" pitchFamily="34" charset="0"/>
                <a:ea typeface="Barlow" pitchFamily="34" charset="-122"/>
                <a:cs typeface="Barlow" pitchFamily="34" charset="-120"/>
              </a:rPr>
              <a:t>Gameplay Screen</a:t>
            </a:r>
            <a:endParaRPr lang="en-US" sz="1683" dirty="0"/>
          </a:p>
        </p:txBody>
      </p:sp>
      <p:sp>
        <p:nvSpPr>
          <p:cNvPr id="8" name="Text 5"/>
          <p:cNvSpPr/>
          <p:nvPr/>
        </p:nvSpPr>
        <p:spPr>
          <a:xfrm>
            <a:off x="1861302" y="3755705"/>
            <a:ext cx="5157907" cy="615553"/>
          </a:xfrm>
          <a:prstGeom prst="rect">
            <a:avLst/>
          </a:prstGeom>
          <a:noFill/>
          <a:ln/>
        </p:spPr>
        <p:txBody>
          <a:bodyPr wrap="square" rtlCol="0" anchor="t"/>
          <a:lstStyle/>
          <a:p>
            <a:pPr marL="0" indent="0">
              <a:lnSpc>
                <a:spcPts val="2424"/>
              </a:lnSpc>
              <a:buNone/>
            </a:pPr>
            <a:r>
              <a:rPr lang="en-US" sz="1515" dirty="0">
                <a:solidFill>
                  <a:srgbClr val="E5E0DF"/>
                </a:solidFill>
                <a:latin typeface="Barlow" pitchFamily="34" charset="0"/>
                <a:ea typeface="Barlow" pitchFamily="34" charset="-122"/>
                <a:cs typeface="Barlow" pitchFamily="34" charset="-120"/>
              </a:rPr>
              <a:t>The gameplay screen displays the Sudoku grid, allowing players to enter numbers using a small input area.</a:t>
            </a:r>
          </a:p>
          <a:p>
            <a:pPr marL="0" indent="0">
              <a:lnSpc>
                <a:spcPts val="2424"/>
              </a:lnSpc>
              <a:buNone/>
            </a:pPr>
            <a:endParaRPr lang="en-US" sz="1515" dirty="0">
              <a:solidFill>
                <a:srgbClr val="E5E0DF"/>
              </a:solidFill>
              <a:latin typeface="Barlow" pitchFamily="34" charset="0"/>
            </a:endParaRPr>
          </a:p>
          <a:p>
            <a:pPr marL="0" indent="0">
              <a:lnSpc>
                <a:spcPts val="2424"/>
              </a:lnSpc>
              <a:buNone/>
            </a:pPr>
            <a:endParaRPr lang="en-US" sz="1515" dirty="0"/>
          </a:p>
        </p:txBody>
      </p:sp>
      <p:sp>
        <p:nvSpPr>
          <p:cNvPr id="9" name="Text 6"/>
          <p:cNvSpPr/>
          <p:nvPr/>
        </p:nvSpPr>
        <p:spPr>
          <a:xfrm>
            <a:off x="1861304" y="5003178"/>
            <a:ext cx="2137529" cy="267057"/>
          </a:xfrm>
          <a:prstGeom prst="rect">
            <a:avLst/>
          </a:prstGeom>
          <a:noFill/>
          <a:ln/>
        </p:spPr>
        <p:txBody>
          <a:bodyPr wrap="none" rtlCol="0" anchor="t"/>
          <a:lstStyle/>
          <a:p>
            <a:pPr marL="0" indent="0">
              <a:lnSpc>
                <a:spcPts val="2104"/>
              </a:lnSpc>
              <a:buNone/>
            </a:pPr>
            <a:r>
              <a:rPr lang="en-US" sz="1683" dirty="0">
                <a:solidFill>
                  <a:srgbClr val="E5E0DF"/>
                </a:solidFill>
                <a:latin typeface="Barlow" pitchFamily="34" charset="0"/>
                <a:ea typeface="Barlow" pitchFamily="34" charset="-122"/>
                <a:cs typeface="Barlow" pitchFamily="34" charset="-120"/>
              </a:rPr>
              <a:t> Game Controls</a:t>
            </a:r>
            <a:endParaRPr lang="en-US" sz="1683" dirty="0"/>
          </a:p>
        </p:txBody>
      </p:sp>
      <p:sp>
        <p:nvSpPr>
          <p:cNvPr id="10" name="Text 7"/>
          <p:cNvSpPr/>
          <p:nvPr/>
        </p:nvSpPr>
        <p:spPr>
          <a:xfrm>
            <a:off x="1861303" y="5512229"/>
            <a:ext cx="5157907" cy="615553"/>
          </a:xfrm>
          <a:prstGeom prst="rect">
            <a:avLst/>
          </a:prstGeom>
          <a:noFill/>
          <a:ln/>
        </p:spPr>
        <p:txBody>
          <a:bodyPr wrap="square" rtlCol="0" anchor="t"/>
          <a:lstStyle/>
          <a:p>
            <a:pPr marL="0" indent="0">
              <a:lnSpc>
                <a:spcPts val="2424"/>
              </a:lnSpc>
              <a:buNone/>
            </a:pPr>
            <a:r>
              <a:rPr lang="en-US" sz="1515" dirty="0">
                <a:solidFill>
                  <a:srgbClr val="E5E0DF"/>
                </a:solidFill>
                <a:latin typeface="Barlow" pitchFamily="34" charset="0"/>
                <a:ea typeface="Barlow" pitchFamily="34" charset="-122"/>
                <a:cs typeface="Barlow" pitchFamily="34" charset="-120"/>
              </a:rPr>
              <a:t>Adding game controls such as buttons for solving the puzzle, checking for errors, and resetting the grid.</a:t>
            </a:r>
            <a:endParaRPr lang="en-US" sz="1515" dirty="0"/>
          </a:p>
        </p:txBody>
      </p:sp>
      <p:sp>
        <p:nvSpPr>
          <p:cNvPr id="11" name="Text 8"/>
          <p:cNvSpPr/>
          <p:nvPr/>
        </p:nvSpPr>
        <p:spPr>
          <a:xfrm>
            <a:off x="1861304" y="4556165"/>
            <a:ext cx="5157907" cy="307777"/>
          </a:xfrm>
          <a:prstGeom prst="rect">
            <a:avLst/>
          </a:prstGeom>
          <a:noFill/>
          <a:ln/>
        </p:spPr>
        <p:txBody>
          <a:bodyPr wrap="none" rtlCol="0" anchor="t"/>
          <a:lstStyle/>
          <a:p>
            <a:pPr marL="0" indent="0">
              <a:lnSpc>
                <a:spcPts val="2424"/>
              </a:lnSpc>
              <a:buNone/>
            </a:pPr>
            <a:endParaRPr lang="en-US" sz="1515" dirty="0"/>
          </a:p>
        </p:txBody>
      </p:sp>
      <p:pic>
        <p:nvPicPr>
          <p:cNvPr id="13" name="Image 1" descr="preencoded.png"/>
          <p:cNvPicPr>
            <a:picLocks noChangeAspect="1"/>
          </p:cNvPicPr>
          <p:nvPr/>
        </p:nvPicPr>
        <p:blipFill>
          <a:blip r:embed="rId4"/>
          <a:stretch>
            <a:fillRect/>
          </a:stretch>
        </p:blipFill>
        <p:spPr>
          <a:xfrm>
            <a:off x="7611307" y="2329458"/>
            <a:ext cx="5028927" cy="50138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75000"/>
            </a:srgbClr>
          </a:solidFill>
          <a:ln/>
        </p:spPr>
      </p:sp>
      <p:sp>
        <p:nvSpPr>
          <p:cNvPr id="4" name="Text 1"/>
          <p:cNvSpPr/>
          <p:nvPr/>
        </p:nvSpPr>
        <p:spPr>
          <a:xfrm>
            <a:off x="864037" y="1483400"/>
            <a:ext cx="7327106" cy="685800"/>
          </a:xfrm>
          <a:prstGeom prst="rect">
            <a:avLst/>
          </a:prstGeom>
          <a:noFill/>
          <a:ln/>
        </p:spPr>
        <p:txBody>
          <a:bodyPr wrap="none" rtlCol="0" anchor="t"/>
          <a:lstStyle/>
          <a:p>
            <a:pPr marL="0" indent="0">
              <a:lnSpc>
                <a:spcPts val="5400"/>
              </a:lnSpc>
              <a:buNone/>
            </a:pPr>
            <a:r>
              <a:rPr lang="en-US" sz="4320" dirty="0">
                <a:solidFill>
                  <a:srgbClr val="FFFFFF"/>
                </a:solidFill>
                <a:latin typeface="Barlow" pitchFamily="34" charset="0"/>
                <a:ea typeface="Barlow" pitchFamily="34" charset="-122"/>
                <a:cs typeface="Barlow" pitchFamily="34" charset="-120"/>
              </a:rPr>
              <a:t>Tkinter Sudoku Game Features</a:t>
            </a:r>
            <a:endParaRPr lang="en-US" sz="4320" dirty="0"/>
          </a:p>
        </p:txBody>
      </p:sp>
      <p:sp>
        <p:nvSpPr>
          <p:cNvPr id="5" name="Text 2"/>
          <p:cNvSpPr/>
          <p:nvPr/>
        </p:nvSpPr>
        <p:spPr>
          <a:xfrm>
            <a:off x="864037" y="2539484"/>
            <a:ext cx="12902327" cy="395049"/>
          </a:xfrm>
          <a:prstGeom prst="rect">
            <a:avLst/>
          </a:prstGeom>
          <a:noFill/>
          <a:ln/>
        </p:spPr>
        <p:txBody>
          <a:bodyPr wrap="non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The Tkinter Sudoku game includes features that provide basic functionality and assistance.</a:t>
            </a:r>
            <a:endParaRPr lang="en-US" sz="1944" dirty="0"/>
          </a:p>
        </p:txBody>
      </p:sp>
      <p:sp>
        <p:nvSpPr>
          <p:cNvPr id="6" name="Shape 3"/>
          <p:cNvSpPr/>
          <p:nvPr/>
        </p:nvSpPr>
        <p:spPr>
          <a:xfrm>
            <a:off x="864037" y="3489841"/>
            <a:ext cx="555427" cy="555427"/>
          </a:xfrm>
          <a:prstGeom prst="roundRect">
            <a:avLst>
              <a:gd name="adj" fmla="val 18669"/>
            </a:avLst>
          </a:prstGeom>
          <a:solidFill>
            <a:srgbClr val="790709"/>
          </a:solidFill>
          <a:ln w="15240">
            <a:solidFill>
              <a:srgbClr val="922022"/>
            </a:solidFill>
            <a:prstDash val="solid"/>
          </a:ln>
        </p:spPr>
      </p:sp>
      <p:sp>
        <p:nvSpPr>
          <p:cNvPr id="7" name="Text 4"/>
          <p:cNvSpPr/>
          <p:nvPr/>
        </p:nvSpPr>
        <p:spPr>
          <a:xfrm>
            <a:off x="1083826" y="3602950"/>
            <a:ext cx="115848" cy="329208"/>
          </a:xfrm>
          <a:prstGeom prst="rect">
            <a:avLst/>
          </a:prstGeom>
          <a:noFill/>
          <a:ln/>
        </p:spPr>
        <p:txBody>
          <a:bodyPr wrap="none" rtlCol="0" anchor="t"/>
          <a:lstStyle/>
          <a:p>
            <a:pPr marL="0" indent="0" algn="ctr">
              <a:lnSpc>
                <a:spcPts val="2592"/>
              </a:lnSpc>
              <a:buNone/>
            </a:pPr>
            <a:r>
              <a:rPr lang="en-US" sz="2592" dirty="0">
                <a:solidFill>
                  <a:srgbClr val="E5E0DF"/>
                </a:solidFill>
                <a:latin typeface="Barlow" pitchFamily="34" charset="0"/>
                <a:ea typeface="Barlow" pitchFamily="34" charset="-122"/>
                <a:cs typeface="Barlow" pitchFamily="34" charset="-120"/>
              </a:rPr>
              <a:t>1</a:t>
            </a:r>
            <a:endParaRPr lang="en-US" sz="2592" dirty="0"/>
          </a:p>
        </p:txBody>
      </p:sp>
      <p:sp>
        <p:nvSpPr>
          <p:cNvPr id="8" name="Text 5"/>
          <p:cNvSpPr/>
          <p:nvPr/>
        </p:nvSpPr>
        <p:spPr>
          <a:xfrm>
            <a:off x="1666280" y="3489841"/>
            <a:ext cx="2743200" cy="342900"/>
          </a:xfrm>
          <a:prstGeom prst="rect">
            <a:avLst/>
          </a:prstGeom>
          <a:noFill/>
          <a:ln/>
        </p:spPr>
        <p:txBody>
          <a:bodyPr wrap="none" rtlCol="0" anchor="t"/>
          <a:lstStyle/>
          <a:p>
            <a:pPr marL="0" indent="0">
              <a:lnSpc>
                <a:spcPts val="2700"/>
              </a:lnSpc>
              <a:buNone/>
            </a:pPr>
            <a:r>
              <a:rPr lang="en-US" sz="2160" dirty="0">
                <a:solidFill>
                  <a:srgbClr val="E5E0DF"/>
                </a:solidFill>
                <a:latin typeface="Barlow" pitchFamily="34" charset="0"/>
                <a:ea typeface="Barlow" pitchFamily="34" charset="-122"/>
                <a:cs typeface="Barlow" pitchFamily="34" charset="-120"/>
              </a:rPr>
              <a:t>Error Checking</a:t>
            </a:r>
            <a:endParaRPr lang="en-US" sz="2160" dirty="0"/>
          </a:p>
        </p:txBody>
      </p:sp>
      <p:sp>
        <p:nvSpPr>
          <p:cNvPr id="9" name="Text 6"/>
          <p:cNvSpPr/>
          <p:nvPr/>
        </p:nvSpPr>
        <p:spPr>
          <a:xfrm>
            <a:off x="1666280" y="3980855"/>
            <a:ext cx="3333988" cy="790099"/>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The game checks for errors and highlights invalid entries.</a:t>
            </a:r>
            <a:endParaRPr lang="en-US" sz="1944" dirty="0"/>
          </a:p>
        </p:txBody>
      </p:sp>
      <p:sp>
        <p:nvSpPr>
          <p:cNvPr id="10" name="Shape 7"/>
          <p:cNvSpPr/>
          <p:nvPr/>
        </p:nvSpPr>
        <p:spPr>
          <a:xfrm>
            <a:off x="5247084" y="3489841"/>
            <a:ext cx="555427" cy="555427"/>
          </a:xfrm>
          <a:prstGeom prst="roundRect">
            <a:avLst>
              <a:gd name="adj" fmla="val 18669"/>
            </a:avLst>
          </a:prstGeom>
          <a:solidFill>
            <a:srgbClr val="790709"/>
          </a:solidFill>
          <a:ln w="15240">
            <a:solidFill>
              <a:srgbClr val="922022"/>
            </a:solidFill>
            <a:prstDash val="solid"/>
          </a:ln>
        </p:spPr>
      </p:sp>
      <p:sp>
        <p:nvSpPr>
          <p:cNvPr id="11" name="Text 8"/>
          <p:cNvSpPr/>
          <p:nvPr/>
        </p:nvSpPr>
        <p:spPr>
          <a:xfrm>
            <a:off x="5435203" y="3602950"/>
            <a:ext cx="179070" cy="329208"/>
          </a:xfrm>
          <a:prstGeom prst="rect">
            <a:avLst/>
          </a:prstGeom>
          <a:noFill/>
          <a:ln/>
        </p:spPr>
        <p:txBody>
          <a:bodyPr wrap="none" rtlCol="0" anchor="t"/>
          <a:lstStyle/>
          <a:p>
            <a:pPr marL="0" indent="0" algn="ctr">
              <a:lnSpc>
                <a:spcPts val="2592"/>
              </a:lnSpc>
              <a:buNone/>
            </a:pPr>
            <a:r>
              <a:rPr lang="en-US" sz="2592" dirty="0">
                <a:solidFill>
                  <a:srgbClr val="E5E0DF"/>
                </a:solidFill>
                <a:latin typeface="Barlow" pitchFamily="34" charset="0"/>
                <a:ea typeface="Barlow" pitchFamily="34" charset="-122"/>
                <a:cs typeface="Barlow" pitchFamily="34" charset="-120"/>
              </a:rPr>
              <a:t>2</a:t>
            </a:r>
            <a:endParaRPr lang="en-US" sz="2592" dirty="0"/>
          </a:p>
        </p:txBody>
      </p:sp>
      <p:sp>
        <p:nvSpPr>
          <p:cNvPr id="12" name="Text 9"/>
          <p:cNvSpPr/>
          <p:nvPr/>
        </p:nvSpPr>
        <p:spPr>
          <a:xfrm>
            <a:off x="6049328" y="3489841"/>
            <a:ext cx="2743200" cy="342900"/>
          </a:xfrm>
          <a:prstGeom prst="rect">
            <a:avLst/>
          </a:prstGeom>
          <a:noFill/>
          <a:ln/>
        </p:spPr>
        <p:txBody>
          <a:bodyPr wrap="none" rtlCol="0" anchor="t"/>
          <a:lstStyle/>
          <a:p>
            <a:pPr marL="0" indent="0">
              <a:lnSpc>
                <a:spcPts val="2700"/>
              </a:lnSpc>
              <a:buNone/>
            </a:pPr>
            <a:r>
              <a:rPr lang="en-US" sz="2160" dirty="0">
                <a:solidFill>
                  <a:srgbClr val="E5E0DF"/>
                </a:solidFill>
                <a:latin typeface="Barlow" pitchFamily="34" charset="0"/>
                <a:ea typeface="Barlow" pitchFamily="34" charset="-122"/>
                <a:cs typeface="Barlow" pitchFamily="34" charset="-120"/>
              </a:rPr>
              <a:t>Game Reset</a:t>
            </a:r>
            <a:endParaRPr lang="en-US" sz="2160" dirty="0"/>
          </a:p>
        </p:txBody>
      </p:sp>
      <p:sp>
        <p:nvSpPr>
          <p:cNvPr id="13" name="Text 10"/>
          <p:cNvSpPr/>
          <p:nvPr/>
        </p:nvSpPr>
        <p:spPr>
          <a:xfrm>
            <a:off x="6049328" y="3980855"/>
            <a:ext cx="3333988" cy="1185148"/>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The game allows players to reset the puzzle to its initial state.</a:t>
            </a:r>
            <a:endParaRPr lang="en-US" sz="1944" dirty="0"/>
          </a:p>
        </p:txBody>
      </p:sp>
      <p:sp>
        <p:nvSpPr>
          <p:cNvPr id="14" name="Shape 11"/>
          <p:cNvSpPr/>
          <p:nvPr/>
        </p:nvSpPr>
        <p:spPr>
          <a:xfrm>
            <a:off x="9630132" y="3489841"/>
            <a:ext cx="555427" cy="555427"/>
          </a:xfrm>
          <a:prstGeom prst="roundRect">
            <a:avLst>
              <a:gd name="adj" fmla="val 18669"/>
            </a:avLst>
          </a:prstGeom>
          <a:solidFill>
            <a:srgbClr val="790709"/>
          </a:solidFill>
          <a:ln w="15240">
            <a:solidFill>
              <a:srgbClr val="922022"/>
            </a:solidFill>
            <a:prstDash val="solid"/>
          </a:ln>
        </p:spPr>
      </p:sp>
      <p:sp>
        <p:nvSpPr>
          <p:cNvPr id="15" name="Text 12"/>
          <p:cNvSpPr/>
          <p:nvPr/>
        </p:nvSpPr>
        <p:spPr>
          <a:xfrm>
            <a:off x="9821585" y="3602950"/>
            <a:ext cx="172522" cy="329208"/>
          </a:xfrm>
          <a:prstGeom prst="rect">
            <a:avLst/>
          </a:prstGeom>
          <a:noFill/>
          <a:ln/>
        </p:spPr>
        <p:txBody>
          <a:bodyPr wrap="none" rtlCol="0" anchor="t"/>
          <a:lstStyle/>
          <a:p>
            <a:pPr marL="0" indent="0" algn="ctr">
              <a:lnSpc>
                <a:spcPts val="2592"/>
              </a:lnSpc>
              <a:buNone/>
            </a:pPr>
            <a:r>
              <a:rPr lang="en-US" sz="2592" dirty="0">
                <a:solidFill>
                  <a:srgbClr val="E5E0DF"/>
                </a:solidFill>
                <a:latin typeface="Barlow" pitchFamily="34" charset="0"/>
                <a:ea typeface="Barlow" pitchFamily="34" charset="-122"/>
                <a:cs typeface="Barlow" pitchFamily="34" charset="-120"/>
              </a:rPr>
              <a:t>3</a:t>
            </a:r>
            <a:endParaRPr lang="en-US" sz="2592" dirty="0"/>
          </a:p>
        </p:txBody>
      </p:sp>
      <p:sp>
        <p:nvSpPr>
          <p:cNvPr id="16" name="Text 13"/>
          <p:cNvSpPr/>
          <p:nvPr/>
        </p:nvSpPr>
        <p:spPr>
          <a:xfrm>
            <a:off x="10432375" y="3489841"/>
            <a:ext cx="2743200" cy="342900"/>
          </a:xfrm>
          <a:prstGeom prst="rect">
            <a:avLst/>
          </a:prstGeom>
          <a:noFill/>
          <a:ln/>
        </p:spPr>
        <p:txBody>
          <a:bodyPr wrap="none" rtlCol="0" anchor="t"/>
          <a:lstStyle/>
          <a:p>
            <a:pPr marL="0" indent="0">
              <a:lnSpc>
                <a:spcPts val="2700"/>
              </a:lnSpc>
              <a:buNone/>
            </a:pPr>
            <a:r>
              <a:rPr lang="en-US" sz="2160" dirty="0">
                <a:solidFill>
                  <a:srgbClr val="E5E0DF"/>
                </a:solidFill>
                <a:latin typeface="Barlow" pitchFamily="34" charset="0"/>
                <a:ea typeface="Barlow" pitchFamily="34" charset="-122"/>
                <a:cs typeface="Barlow" pitchFamily="34" charset="-120"/>
              </a:rPr>
              <a:t>Solve Suggestion:</a:t>
            </a:r>
            <a:endParaRPr lang="en-US" sz="2160" dirty="0"/>
          </a:p>
        </p:txBody>
      </p:sp>
      <p:sp>
        <p:nvSpPr>
          <p:cNvPr id="17" name="Text 14"/>
          <p:cNvSpPr/>
          <p:nvPr/>
        </p:nvSpPr>
        <p:spPr>
          <a:xfrm>
            <a:off x="10432375" y="3980855"/>
            <a:ext cx="3333988" cy="2765346"/>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The game includes a solve button that users can click to have the Sudoku puzzle solved automatically. This feature is useful for players who get stuck or simply want to see the solution.</a:t>
            </a:r>
            <a:endParaRPr lang="en-US" sz="194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9159716"/>
          </a:xfrm>
          <a:prstGeom prst="rect">
            <a:avLst/>
          </a:prstGeom>
          <a:solidFill>
            <a:srgbClr val="191718">
              <a:alpha val="75000"/>
            </a:srgbClr>
          </a:solidFill>
          <a:ln/>
        </p:spPr>
      </p:sp>
      <p:sp>
        <p:nvSpPr>
          <p:cNvPr id="4" name="Text 1"/>
          <p:cNvSpPr/>
          <p:nvPr/>
        </p:nvSpPr>
        <p:spPr>
          <a:xfrm>
            <a:off x="2236113" y="475178"/>
            <a:ext cx="7291745" cy="480060"/>
          </a:xfrm>
          <a:prstGeom prst="rect">
            <a:avLst/>
          </a:prstGeom>
          <a:noFill/>
          <a:ln/>
        </p:spPr>
        <p:txBody>
          <a:bodyPr wrap="none" rtlCol="0" anchor="t"/>
          <a:lstStyle/>
          <a:p>
            <a:pPr marL="0" indent="0">
              <a:lnSpc>
                <a:spcPts val="3780"/>
              </a:lnSpc>
              <a:buNone/>
            </a:pPr>
            <a:r>
              <a:rPr lang="en-US" sz="3024" dirty="0">
                <a:solidFill>
                  <a:srgbClr val="FFFFFF"/>
                </a:solidFill>
                <a:latin typeface="Barlow" pitchFamily="34" charset="0"/>
                <a:ea typeface="Barlow" pitchFamily="34" charset="-122"/>
                <a:cs typeface="Barlow" pitchFamily="34" charset="-120"/>
              </a:rPr>
              <a:t>Tkinter Sudoku Game Development Process</a:t>
            </a:r>
            <a:endParaRPr lang="en-US" sz="3024" dirty="0"/>
          </a:p>
        </p:txBody>
      </p:sp>
      <p:sp>
        <p:nvSpPr>
          <p:cNvPr id="5" name="Text 2"/>
          <p:cNvSpPr/>
          <p:nvPr/>
        </p:nvSpPr>
        <p:spPr>
          <a:xfrm>
            <a:off x="2236113" y="1300877"/>
            <a:ext cx="10158055" cy="276582"/>
          </a:xfrm>
          <a:prstGeom prst="rect">
            <a:avLst/>
          </a:prstGeom>
          <a:noFill/>
          <a:ln/>
        </p:spPr>
        <p:txBody>
          <a:bodyPr wrap="none" rtlCol="0" anchor="t"/>
          <a:lstStyle/>
          <a:p>
            <a:pPr marL="0" indent="0">
              <a:lnSpc>
                <a:spcPts val="2177"/>
              </a:lnSpc>
              <a:buNone/>
            </a:pPr>
            <a:r>
              <a:rPr lang="en-US" sz="1361" dirty="0">
                <a:solidFill>
                  <a:srgbClr val="E5E0DF"/>
                </a:solidFill>
                <a:latin typeface="Barlow" pitchFamily="34" charset="0"/>
                <a:ea typeface="Barlow" pitchFamily="34" charset="-122"/>
                <a:cs typeface="Barlow" pitchFamily="34" charset="-120"/>
              </a:rPr>
              <a:t>Building the Tkinter Sudoku game involved a similar development process, emphasizing simplicity and functionality.</a:t>
            </a:r>
            <a:endParaRPr lang="en-US" sz="1361" dirty="0"/>
          </a:p>
        </p:txBody>
      </p:sp>
      <p:pic>
        <p:nvPicPr>
          <p:cNvPr id="6" name="Image 1" descr="preencoded.png"/>
          <p:cNvPicPr>
            <a:picLocks noChangeAspect="1"/>
          </p:cNvPicPr>
          <p:nvPr/>
        </p:nvPicPr>
        <p:blipFill>
          <a:blip r:embed="rId4"/>
          <a:stretch>
            <a:fillRect/>
          </a:stretch>
        </p:blipFill>
        <p:spPr>
          <a:xfrm>
            <a:off x="2236113" y="1771769"/>
            <a:ext cx="864037" cy="1382554"/>
          </a:xfrm>
          <a:prstGeom prst="rect">
            <a:avLst/>
          </a:prstGeom>
        </p:spPr>
      </p:pic>
      <p:sp>
        <p:nvSpPr>
          <p:cNvPr id="7" name="Text 3"/>
          <p:cNvSpPr/>
          <p:nvPr/>
        </p:nvSpPr>
        <p:spPr>
          <a:xfrm>
            <a:off x="3359348" y="1944529"/>
            <a:ext cx="1920240" cy="240030"/>
          </a:xfrm>
          <a:prstGeom prst="rect">
            <a:avLst/>
          </a:prstGeom>
          <a:noFill/>
          <a:ln/>
        </p:spPr>
        <p:txBody>
          <a:bodyPr wrap="none" rtlCol="0" anchor="t"/>
          <a:lstStyle/>
          <a:p>
            <a:pPr marL="0" indent="0" algn="l">
              <a:lnSpc>
                <a:spcPts val="1890"/>
              </a:lnSpc>
              <a:buNone/>
            </a:pPr>
            <a:r>
              <a:rPr lang="en-US" sz="1512" dirty="0">
                <a:solidFill>
                  <a:srgbClr val="E5E0DF"/>
                </a:solidFill>
                <a:latin typeface="Barlow" pitchFamily="34" charset="0"/>
                <a:ea typeface="Barlow" pitchFamily="34" charset="-122"/>
                <a:cs typeface="Barlow" pitchFamily="34" charset="-120"/>
              </a:rPr>
              <a:t>Game Design</a:t>
            </a:r>
            <a:endParaRPr lang="en-US" sz="1512" dirty="0"/>
          </a:p>
        </p:txBody>
      </p:sp>
      <p:sp>
        <p:nvSpPr>
          <p:cNvPr id="8" name="Text 4"/>
          <p:cNvSpPr/>
          <p:nvPr/>
        </p:nvSpPr>
        <p:spPr>
          <a:xfrm>
            <a:off x="3359348" y="2288143"/>
            <a:ext cx="9034820" cy="276582"/>
          </a:xfrm>
          <a:prstGeom prst="rect">
            <a:avLst/>
          </a:prstGeom>
          <a:noFill/>
          <a:ln/>
        </p:spPr>
        <p:txBody>
          <a:bodyPr wrap="none" rtlCol="0" anchor="t"/>
          <a:lstStyle/>
          <a:p>
            <a:pPr marL="0" indent="0" algn="l">
              <a:lnSpc>
                <a:spcPts val="2177"/>
              </a:lnSpc>
              <a:buNone/>
            </a:pPr>
            <a:r>
              <a:rPr lang="en-US" sz="1361" dirty="0">
                <a:solidFill>
                  <a:srgbClr val="E5E0DF"/>
                </a:solidFill>
                <a:latin typeface="Barlow" pitchFamily="34" charset="0"/>
                <a:ea typeface="Barlow" pitchFamily="34" charset="-122"/>
                <a:cs typeface="Barlow" pitchFamily="34" charset="-120"/>
              </a:rPr>
              <a:t>Conceptualizing the game interface, features, and gameplay logic.</a:t>
            </a:r>
            <a:endParaRPr lang="en-US" sz="1361" dirty="0"/>
          </a:p>
        </p:txBody>
      </p:sp>
      <p:pic>
        <p:nvPicPr>
          <p:cNvPr id="9" name="Image 2" descr="preencoded.png"/>
          <p:cNvPicPr>
            <a:picLocks noChangeAspect="1"/>
          </p:cNvPicPr>
          <p:nvPr/>
        </p:nvPicPr>
        <p:blipFill>
          <a:blip r:embed="rId5"/>
          <a:stretch>
            <a:fillRect/>
          </a:stretch>
        </p:blipFill>
        <p:spPr>
          <a:xfrm>
            <a:off x="2236113" y="3154323"/>
            <a:ext cx="864037" cy="1382554"/>
          </a:xfrm>
          <a:prstGeom prst="rect">
            <a:avLst/>
          </a:prstGeom>
        </p:spPr>
      </p:pic>
      <p:sp>
        <p:nvSpPr>
          <p:cNvPr id="10" name="Text 5"/>
          <p:cNvSpPr/>
          <p:nvPr/>
        </p:nvSpPr>
        <p:spPr>
          <a:xfrm>
            <a:off x="3359348" y="3327083"/>
            <a:ext cx="1920240" cy="240030"/>
          </a:xfrm>
          <a:prstGeom prst="rect">
            <a:avLst/>
          </a:prstGeom>
          <a:noFill/>
          <a:ln/>
        </p:spPr>
        <p:txBody>
          <a:bodyPr wrap="none" rtlCol="0" anchor="t"/>
          <a:lstStyle/>
          <a:p>
            <a:pPr marL="0" indent="0" algn="l">
              <a:lnSpc>
                <a:spcPts val="1890"/>
              </a:lnSpc>
              <a:buNone/>
            </a:pPr>
            <a:r>
              <a:rPr lang="en-US" sz="1512" dirty="0">
                <a:solidFill>
                  <a:srgbClr val="E5E0DF"/>
                </a:solidFill>
                <a:latin typeface="Barlow" pitchFamily="34" charset="0"/>
                <a:ea typeface="Barlow" pitchFamily="34" charset="-122"/>
                <a:cs typeface="Barlow" pitchFamily="34" charset="-120"/>
              </a:rPr>
              <a:t>Grid Implementation</a:t>
            </a:r>
            <a:endParaRPr lang="en-US" sz="1512" dirty="0"/>
          </a:p>
        </p:txBody>
      </p:sp>
      <p:sp>
        <p:nvSpPr>
          <p:cNvPr id="11" name="Text 6"/>
          <p:cNvSpPr/>
          <p:nvPr/>
        </p:nvSpPr>
        <p:spPr>
          <a:xfrm>
            <a:off x="3359348" y="3670697"/>
            <a:ext cx="9034820" cy="276582"/>
          </a:xfrm>
          <a:prstGeom prst="rect">
            <a:avLst/>
          </a:prstGeom>
          <a:noFill/>
          <a:ln/>
        </p:spPr>
        <p:txBody>
          <a:bodyPr wrap="none" rtlCol="0" anchor="t"/>
          <a:lstStyle/>
          <a:p>
            <a:pPr marL="0" indent="0" algn="l">
              <a:lnSpc>
                <a:spcPts val="2177"/>
              </a:lnSpc>
              <a:buNone/>
            </a:pPr>
            <a:r>
              <a:rPr lang="en-US" sz="1361" dirty="0">
                <a:solidFill>
                  <a:srgbClr val="E5E0DF"/>
                </a:solidFill>
                <a:latin typeface="Barlow" pitchFamily="34" charset="0"/>
                <a:ea typeface="Barlow" pitchFamily="34" charset="-122"/>
                <a:cs typeface="Barlow" pitchFamily="34" charset="-120"/>
              </a:rPr>
              <a:t>Creating the Sudoku grid using Tkinter widgets.</a:t>
            </a:r>
            <a:endParaRPr lang="en-US" sz="1361" dirty="0"/>
          </a:p>
        </p:txBody>
      </p:sp>
      <p:pic>
        <p:nvPicPr>
          <p:cNvPr id="12" name="Image 3" descr="preencoded.png"/>
          <p:cNvPicPr>
            <a:picLocks noChangeAspect="1"/>
          </p:cNvPicPr>
          <p:nvPr/>
        </p:nvPicPr>
        <p:blipFill>
          <a:blip r:embed="rId6"/>
          <a:stretch>
            <a:fillRect/>
          </a:stretch>
        </p:blipFill>
        <p:spPr>
          <a:xfrm>
            <a:off x="2236113" y="4536877"/>
            <a:ext cx="864037" cy="1382554"/>
          </a:xfrm>
          <a:prstGeom prst="rect">
            <a:avLst/>
          </a:prstGeom>
        </p:spPr>
      </p:pic>
      <p:sp>
        <p:nvSpPr>
          <p:cNvPr id="13" name="Text 7"/>
          <p:cNvSpPr/>
          <p:nvPr/>
        </p:nvSpPr>
        <p:spPr>
          <a:xfrm>
            <a:off x="3359348" y="4709636"/>
            <a:ext cx="1920240" cy="240030"/>
          </a:xfrm>
          <a:prstGeom prst="rect">
            <a:avLst/>
          </a:prstGeom>
          <a:noFill/>
          <a:ln/>
        </p:spPr>
        <p:txBody>
          <a:bodyPr wrap="none" rtlCol="0" anchor="t"/>
          <a:lstStyle/>
          <a:p>
            <a:pPr marL="0" indent="0" algn="l">
              <a:lnSpc>
                <a:spcPts val="1890"/>
              </a:lnSpc>
              <a:buNone/>
            </a:pPr>
            <a:r>
              <a:rPr lang="en-US" sz="1512" dirty="0">
                <a:solidFill>
                  <a:srgbClr val="E5E0DF"/>
                </a:solidFill>
                <a:latin typeface="Barlow" pitchFamily="34" charset="0"/>
                <a:ea typeface="Barlow" pitchFamily="34" charset="-122"/>
                <a:cs typeface="Barlow" pitchFamily="34" charset="-120"/>
              </a:rPr>
              <a:t>User Input Handling</a:t>
            </a:r>
            <a:endParaRPr lang="en-US" sz="1512" dirty="0"/>
          </a:p>
        </p:txBody>
      </p:sp>
      <p:sp>
        <p:nvSpPr>
          <p:cNvPr id="14" name="Text 8"/>
          <p:cNvSpPr/>
          <p:nvPr/>
        </p:nvSpPr>
        <p:spPr>
          <a:xfrm>
            <a:off x="3359348" y="5053251"/>
            <a:ext cx="9034820" cy="276582"/>
          </a:xfrm>
          <a:prstGeom prst="rect">
            <a:avLst/>
          </a:prstGeom>
          <a:noFill/>
          <a:ln/>
        </p:spPr>
        <p:txBody>
          <a:bodyPr wrap="none" rtlCol="0" anchor="t"/>
          <a:lstStyle/>
          <a:p>
            <a:pPr marL="0" indent="0" algn="l">
              <a:lnSpc>
                <a:spcPts val="2177"/>
              </a:lnSpc>
              <a:buNone/>
            </a:pPr>
            <a:r>
              <a:rPr lang="en-US" sz="1361" dirty="0">
                <a:solidFill>
                  <a:srgbClr val="E5E0DF"/>
                </a:solidFill>
                <a:latin typeface="Barlow" pitchFamily="34" charset="0"/>
                <a:ea typeface="Barlow" pitchFamily="34" charset="-122"/>
                <a:cs typeface="Barlow" pitchFamily="34" charset="-120"/>
              </a:rPr>
              <a:t>Implementing user input for entering numbers using entry widgets.</a:t>
            </a:r>
            <a:endParaRPr lang="en-US" sz="1361" dirty="0"/>
          </a:p>
        </p:txBody>
      </p:sp>
      <p:pic>
        <p:nvPicPr>
          <p:cNvPr id="15" name="Image 4" descr="preencoded.png"/>
          <p:cNvPicPr>
            <a:picLocks noChangeAspect="1"/>
          </p:cNvPicPr>
          <p:nvPr/>
        </p:nvPicPr>
        <p:blipFill>
          <a:blip r:embed="rId7"/>
          <a:stretch>
            <a:fillRect/>
          </a:stretch>
        </p:blipFill>
        <p:spPr>
          <a:xfrm>
            <a:off x="2236113" y="5919430"/>
            <a:ext cx="864037" cy="1202132"/>
          </a:xfrm>
          <a:prstGeom prst="rect">
            <a:avLst/>
          </a:prstGeom>
        </p:spPr>
      </p:pic>
      <p:sp>
        <p:nvSpPr>
          <p:cNvPr id="16" name="Text 9"/>
          <p:cNvSpPr/>
          <p:nvPr/>
        </p:nvSpPr>
        <p:spPr>
          <a:xfrm>
            <a:off x="3359348" y="6092190"/>
            <a:ext cx="1920240" cy="240030"/>
          </a:xfrm>
          <a:prstGeom prst="rect">
            <a:avLst/>
          </a:prstGeom>
          <a:noFill/>
          <a:ln/>
        </p:spPr>
        <p:txBody>
          <a:bodyPr wrap="none" rtlCol="0" anchor="t"/>
          <a:lstStyle/>
          <a:p>
            <a:pPr marL="0" indent="0" algn="l">
              <a:lnSpc>
                <a:spcPts val="1890"/>
              </a:lnSpc>
              <a:buNone/>
            </a:pPr>
            <a:r>
              <a:rPr lang="en-US" sz="1512" dirty="0">
                <a:solidFill>
                  <a:srgbClr val="E5E0DF"/>
                </a:solidFill>
                <a:latin typeface="Barlow" pitchFamily="34" charset="0"/>
                <a:ea typeface="Barlow" pitchFamily="34" charset="-122"/>
                <a:cs typeface="Barlow" pitchFamily="34" charset="-120"/>
              </a:rPr>
              <a:t>Game Logic</a:t>
            </a:r>
            <a:endParaRPr lang="en-US" sz="1512" dirty="0"/>
          </a:p>
        </p:txBody>
      </p:sp>
      <p:sp>
        <p:nvSpPr>
          <p:cNvPr id="17" name="Text 10"/>
          <p:cNvSpPr/>
          <p:nvPr/>
        </p:nvSpPr>
        <p:spPr>
          <a:xfrm>
            <a:off x="3359348" y="6435804"/>
            <a:ext cx="9034820" cy="276582"/>
          </a:xfrm>
          <a:prstGeom prst="rect">
            <a:avLst/>
          </a:prstGeom>
          <a:noFill/>
          <a:ln/>
        </p:spPr>
        <p:txBody>
          <a:bodyPr wrap="none" rtlCol="0" anchor="t"/>
          <a:lstStyle/>
          <a:p>
            <a:pPr marL="0" indent="0" algn="l">
              <a:lnSpc>
                <a:spcPts val="2177"/>
              </a:lnSpc>
              <a:buNone/>
            </a:pPr>
            <a:r>
              <a:rPr lang="en-US" sz="1361" dirty="0">
                <a:solidFill>
                  <a:srgbClr val="E5E0DF"/>
                </a:solidFill>
                <a:latin typeface="Barlow" pitchFamily="34" charset="0"/>
                <a:ea typeface="Barlow" pitchFamily="34" charset="-122"/>
                <a:cs typeface="Barlow" pitchFamily="34" charset="-120"/>
              </a:rPr>
              <a:t>Developing the game logic for error checking and puzzle generation.</a:t>
            </a:r>
            <a:endParaRPr lang="en-US" sz="1361" dirty="0"/>
          </a:p>
        </p:txBody>
      </p:sp>
      <p:pic>
        <p:nvPicPr>
          <p:cNvPr id="18" name="Image 5" descr="preencoded.png"/>
          <p:cNvPicPr>
            <a:picLocks noChangeAspect="1"/>
          </p:cNvPicPr>
          <p:nvPr/>
        </p:nvPicPr>
        <p:blipFill>
          <a:blip r:embed="rId8"/>
          <a:stretch>
            <a:fillRect/>
          </a:stretch>
        </p:blipFill>
        <p:spPr>
          <a:xfrm>
            <a:off x="2236113" y="7121562"/>
            <a:ext cx="864037" cy="1108038"/>
          </a:xfrm>
          <a:prstGeom prst="rect">
            <a:avLst/>
          </a:prstGeom>
        </p:spPr>
      </p:pic>
      <p:sp>
        <p:nvSpPr>
          <p:cNvPr id="19" name="Text 11"/>
          <p:cNvSpPr/>
          <p:nvPr/>
        </p:nvSpPr>
        <p:spPr>
          <a:xfrm>
            <a:off x="3359348" y="7474744"/>
            <a:ext cx="1981914" cy="240030"/>
          </a:xfrm>
          <a:prstGeom prst="rect">
            <a:avLst/>
          </a:prstGeom>
          <a:noFill/>
          <a:ln/>
        </p:spPr>
        <p:txBody>
          <a:bodyPr wrap="none" rtlCol="0" anchor="t"/>
          <a:lstStyle/>
          <a:p>
            <a:pPr marL="0" indent="0" algn="l">
              <a:lnSpc>
                <a:spcPts val="1890"/>
              </a:lnSpc>
              <a:buNone/>
            </a:pPr>
            <a:r>
              <a:rPr lang="en-US" sz="1512" dirty="0">
                <a:solidFill>
                  <a:srgbClr val="E5E0DF"/>
                </a:solidFill>
                <a:latin typeface="Barlow" pitchFamily="34" charset="0"/>
                <a:ea typeface="Barlow" pitchFamily="34" charset="-122"/>
                <a:cs typeface="Barlow" pitchFamily="34" charset="-120"/>
              </a:rPr>
              <a:t>Testing and Refinement</a:t>
            </a:r>
            <a:endParaRPr lang="en-US" sz="1512" dirty="0"/>
          </a:p>
        </p:txBody>
      </p:sp>
      <p:sp>
        <p:nvSpPr>
          <p:cNvPr id="20" name="Text 12"/>
          <p:cNvSpPr/>
          <p:nvPr/>
        </p:nvSpPr>
        <p:spPr>
          <a:xfrm>
            <a:off x="3359348" y="7818358"/>
            <a:ext cx="9034820" cy="276582"/>
          </a:xfrm>
          <a:prstGeom prst="rect">
            <a:avLst/>
          </a:prstGeom>
          <a:noFill/>
          <a:ln/>
        </p:spPr>
        <p:txBody>
          <a:bodyPr wrap="none" rtlCol="0" anchor="t"/>
          <a:lstStyle/>
          <a:p>
            <a:pPr marL="0" indent="0" algn="l">
              <a:lnSpc>
                <a:spcPts val="2177"/>
              </a:lnSpc>
              <a:buNone/>
            </a:pPr>
            <a:r>
              <a:rPr lang="en-US" sz="1361" dirty="0">
                <a:solidFill>
                  <a:srgbClr val="E5E0DF"/>
                </a:solidFill>
                <a:latin typeface="Barlow" pitchFamily="34" charset="0"/>
                <a:ea typeface="Barlow" pitchFamily="34" charset="-122"/>
                <a:cs typeface="Barlow" pitchFamily="34" charset="-120"/>
              </a:rPr>
              <a:t>Thoroughly testing the game, identifying and fixing any bugs, and refining the user experience.</a:t>
            </a:r>
            <a:endParaRPr lang="en-US" sz="136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75000"/>
            </a:srgbClr>
          </a:solidFill>
          <a:ln/>
        </p:spPr>
      </p:sp>
      <p:sp>
        <p:nvSpPr>
          <p:cNvPr id="4" name="Text 1"/>
          <p:cNvSpPr/>
          <p:nvPr/>
        </p:nvSpPr>
        <p:spPr>
          <a:xfrm>
            <a:off x="1769388" y="970717"/>
            <a:ext cx="9167932" cy="524113"/>
          </a:xfrm>
          <a:prstGeom prst="rect">
            <a:avLst/>
          </a:prstGeom>
          <a:noFill/>
          <a:ln/>
        </p:spPr>
        <p:txBody>
          <a:bodyPr wrap="none" rtlCol="0" anchor="t"/>
          <a:lstStyle/>
          <a:p>
            <a:pPr marL="0" indent="0">
              <a:lnSpc>
                <a:spcPts val="4127"/>
              </a:lnSpc>
              <a:buNone/>
            </a:pPr>
            <a:r>
              <a:rPr lang="en-US" sz="3302" dirty="0">
                <a:solidFill>
                  <a:srgbClr val="FFFFFF"/>
                </a:solidFill>
                <a:latin typeface="Barlow" pitchFamily="34" charset="0"/>
                <a:ea typeface="Barlow" pitchFamily="34" charset="-122"/>
                <a:cs typeface="Barlow" pitchFamily="34" charset="-120"/>
              </a:rPr>
              <a:t>Comparing the Pygame and Tkinter Sudoku Games</a:t>
            </a:r>
            <a:endParaRPr lang="en-US" sz="3302" dirty="0"/>
          </a:p>
        </p:txBody>
      </p:sp>
      <p:sp>
        <p:nvSpPr>
          <p:cNvPr id="5" name="Text 2"/>
          <p:cNvSpPr/>
          <p:nvPr/>
        </p:nvSpPr>
        <p:spPr>
          <a:xfrm>
            <a:off x="1769388" y="1777841"/>
            <a:ext cx="11091505" cy="301943"/>
          </a:xfrm>
          <a:prstGeom prst="rect">
            <a:avLst/>
          </a:prstGeom>
          <a:noFill/>
          <a:ln/>
        </p:spPr>
        <p:txBody>
          <a:bodyPr wrap="non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Both Pygame and Tkinter offer unique advantages and drawbacks for Sudoku game development.</a:t>
            </a:r>
            <a:endParaRPr lang="en-US" sz="1486" dirty="0"/>
          </a:p>
        </p:txBody>
      </p:sp>
      <p:sp>
        <p:nvSpPr>
          <p:cNvPr id="6" name="Shape 3"/>
          <p:cNvSpPr/>
          <p:nvPr/>
        </p:nvSpPr>
        <p:spPr>
          <a:xfrm>
            <a:off x="1769388" y="2292072"/>
            <a:ext cx="11091505" cy="4966811"/>
          </a:xfrm>
          <a:prstGeom prst="roundRect">
            <a:avLst>
              <a:gd name="adj" fmla="val 1596"/>
            </a:avLst>
          </a:prstGeom>
          <a:noFill/>
          <a:ln w="7620">
            <a:solidFill>
              <a:srgbClr val="FFFFFF">
                <a:alpha val="24000"/>
              </a:srgbClr>
            </a:solidFill>
            <a:prstDash val="solid"/>
          </a:ln>
        </p:spPr>
      </p:sp>
      <p:sp>
        <p:nvSpPr>
          <p:cNvPr id="7" name="Shape 4"/>
          <p:cNvSpPr/>
          <p:nvPr/>
        </p:nvSpPr>
        <p:spPr>
          <a:xfrm>
            <a:off x="1777008" y="2299692"/>
            <a:ext cx="11076265" cy="543401"/>
          </a:xfrm>
          <a:prstGeom prst="rect">
            <a:avLst/>
          </a:prstGeom>
          <a:solidFill>
            <a:srgbClr val="FFFFFF">
              <a:alpha val="4000"/>
            </a:srgbClr>
          </a:solidFill>
          <a:ln/>
        </p:spPr>
      </p:sp>
      <p:sp>
        <p:nvSpPr>
          <p:cNvPr id="8" name="Text 5"/>
          <p:cNvSpPr/>
          <p:nvPr/>
        </p:nvSpPr>
        <p:spPr>
          <a:xfrm>
            <a:off x="1966079" y="2420422"/>
            <a:ext cx="1834158" cy="301943"/>
          </a:xfrm>
          <a:prstGeom prst="rect">
            <a:avLst/>
          </a:prstGeom>
          <a:noFill/>
          <a:ln/>
        </p:spPr>
        <p:txBody>
          <a:bodyPr wrap="non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Game</a:t>
            </a:r>
            <a:endParaRPr lang="en-US" sz="1486" dirty="0"/>
          </a:p>
        </p:txBody>
      </p:sp>
      <p:sp>
        <p:nvSpPr>
          <p:cNvPr id="9" name="Text 6"/>
          <p:cNvSpPr/>
          <p:nvPr/>
        </p:nvSpPr>
        <p:spPr>
          <a:xfrm>
            <a:off x="4185047" y="2420422"/>
            <a:ext cx="1830348" cy="301943"/>
          </a:xfrm>
          <a:prstGeom prst="rect">
            <a:avLst/>
          </a:prstGeom>
          <a:noFill/>
          <a:ln/>
        </p:spPr>
        <p:txBody>
          <a:bodyPr wrap="non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Features</a:t>
            </a:r>
            <a:endParaRPr lang="en-US" sz="1486" dirty="0"/>
          </a:p>
        </p:txBody>
      </p:sp>
      <p:sp>
        <p:nvSpPr>
          <p:cNvPr id="10" name="Text 7"/>
          <p:cNvSpPr/>
          <p:nvPr/>
        </p:nvSpPr>
        <p:spPr>
          <a:xfrm>
            <a:off x="6400205" y="2420422"/>
            <a:ext cx="1830348" cy="301943"/>
          </a:xfrm>
          <a:prstGeom prst="rect">
            <a:avLst/>
          </a:prstGeom>
          <a:noFill/>
          <a:ln/>
        </p:spPr>
        <p:txBody>
          <a:bodyPr wrap="non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Pros</a:t>
            </a:r>
            <a:endParaRPr lang="en-US" sz="1486" dirty="0"/>
          </a:p>
        </p:txBody>
      </p:sp>
      <p:sp>
        <p:nvSpPr>
          <p:cNvPr id="11" name="Text 8"/>
          <p:cNvSpPr/>
          <p:nvPr/>
        </p:nvSpPr>
        <p:spPr>
          <a:xfrm>
            <a:off x="8615363" y="2420422"/>
            <a:ext cx="1830348" cy="301943"/>
          </a:xfrm>
          <a:prstGeom prst="rect">
            <a:avLst/>
          </a:prstGeom>
          <a:noFill/>
          <a:ln/>
        </p:spPr>
        <p:txBody>
          <a:bodyPr wrap="non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Cons</a:t>
            </a:r>
            <a:endParaRPr lang="en-US" sz="1486" dirty="0"/>
          </a:p>
        </p:txBody>
      </p:sp>
      <p:sp>
        <p:nvSpPr>
          <p:cNvPr id="12" name="Text 9"/>
          <p:cNvSpPr/>
          <p:nvPr/>
        </p:nvSpPr>
        <p:spPr>
          <a:xfrm>
            <a:off x="10830520" y="2420422"/>
            <a:ext cx="1834158" cy="301943"/>
          </a:xfrm>
          <a:prstGeom prst="rect">
            <a:avLst/>
          </a:prstGeom>
          <a:noFill/>
          <a:ln/>
        </p:spPr>
        <p:txBody>
          <a:bodyPr wrap="non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GUIs</a:t>
            </a:r>
            <a:endParaRPr lang="en-US" sz="1486" dirty="0"/>
          </a:p>
        </p:txBody>
      </p:sp>
      <p:sp>
        <p:nvSpPr>
          <p:cNvPr id="13" name="Shape 10"/>
          <p:cNvSpPr/>
          <p:nvPr/>
        </p:nvSpPr>
        <p:spPr>
          <a:xfrm>
            <a:off x="1777008" y="2843093"/>
            <a:ext cx="11076265" cy="2053114"/>
          </a:xfrm>
          <a:prstGeom prst="rect">
            <a:avLst/>
          </a:prstGeom>
          <a:solidFill>
            <a:srgbClr val="000000">
              <a:alpha val="4000"/>
            </a:srgbClr>
          </a:solidFill>
          <a:ln/>
        </p:spPr>
      </p:sp>
      <p:sp>
        <p:nvSpPr>
          <p:cNvPr id="14" name="Text 11"/>
          <p:cNvSpPr/>
          <p:nvPr/>
        </p:nvSpPr>
        <p:spPr>
          <a:xfrm>
            <a:off x="1966079" y="2963823"/>
            <a:ext cx="1834158" cy="301943"/>
          </a:xfrm>
          <a:prstGeom prst="rect">
            <a:avLst/>
          </a:prstGeom>
          <a:noFill/>
          <a:ln/>
        </p:spPr>
        <p:txBody>
          <a:bodyPr wrap="non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Pygame</a:t>
            </a:r>
            <a:endParaRPr lang="en-US" sz="1486" dirty="0"/>
          </a:p>
        </p:txBody>
      </p:sp>
      <p:sp>
        <p:nvSpPr>
          <p:cNvPr id="15" name="Text 12"/>
          <p:cNvSpPr/>
          <p:nvPr/>
        </p:nvSpPr>
        <p:spPr>
          <a:xfrm>
            <a:off x="4185047" y="2963823"/>
            <a:ext cx="1830348" cy="1207770"/>
          </a:xfrm>
          <a:prstGeom prst="rect">
            <a:avLst/>
          </a:prstGeom>
          <a:noFill/>
          <a:ln/>
        </p:spPr>
        <p:txBody>
          <a:bodyPr wrap="squar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Visual appeal, user interface, game statistics, difficulty levels, solver</a:t>
            </a:r>
            <a:endParaRPr lang="en-US" sz="1486" dirty="0"/>
          </a:p>
        </p:txBody>
      </p:sp>
      <p:sp>
        <p:nvSpPr>
          <p:cNvPr id="16" name="Text 13"/>
          <p:cNvSpPr/>
          <p:nvPr/>
        </p:nvSpPr>
        <p:spPr>
          <a:xfrm>
            <a:off x="6400205" y="2963823"/>
            <a:ext cx="1830348" cy="905828"/>
          </a:xfrm>
          <a:prstGeom prst="rect">
            <a:avLst/>
          </a:prstGeom>
          <a:noFill/>
          <a:ln/>
        </p:spPr>
        <p:txBody>
          <a:bodyPr wrap="squar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More engaging, visually appealing, interactive elements</a:t>
            </a:r>
            <a:endParaRPr lang="en-US" sz="1486" dirty="0"/>
          </a:p>
        </p:txBody>
      </p:sp>
      <p:sp>
        <p:nvSpPr>
          <p:cNvPr id="17" name="Text 14"/>
          <p:cNvSpPr/>
          <p:nvPr/>
        </p:nvSpPr>
        <p:spPr>
          <a:xfrm>
            <a:off x="8615363" y="2963823"/>
            <a:ext cx="1830348" cy="603885"/>
          </a:xfrm>
          <a:prstGeom prst="rect">
            <a:avLst/>
          </a:prstGeom>
          <a:noFill/>
          <a:ln/>
        </p:spPr>
        <p:txBody>
          <a:bodyPr wrap="squar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More complex, potentially slower</a:t>
            </a:r>
            <a:endParaRPr lang="en-US" sz="1486" dirty="0"/>
          </a:p>
        </p:txBody>
      </p:sp>
      <p:sp>
        <p:nvSpPr>
          <p:cNvPr id="18" name="Text 15"/>
          <p:cNvSpPr/>
          <p:nvPr/>
        </p:nvSpPr>
        <p:spPr>
          <a:xfrm>
            <a:off x="10826710" y="2788353"/>
            <a:ext cx="2215634" cy="2530527"/>
          </a:xfrm>
          <a:prstGeom prst="rect">
            <a:avLst/>
          </a:prstGeom>
          <a:noFill/>
          <a:ln/>
        </p:spPr>
        <p:txBody>
          <a:bodyPr wrap="squar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offers more flexibility and control over the game's graphical interface, allowing for more visually appealing designs.</a:t>
            </a:r>
            <a:endParaRPr lang="en-US" sz="1486" dirty="0"/>
          </a:p>
        </p:txBody>
      </p:sp>
      <p:sp>
        <p:nvSpPr>
          <p:cNvPr id="19" name="Shape 16"/>
          <p:cNvSpPr/>
          <p:nvPr/>
        </p:nvSpPr>
        <p:spPr>
          <a:xfrm>
            <a:off x="1777008" y="4896207"/>
            <a:ext cx="11076265" cy="2355056"/>
          </a:xfrm>
          <a:prstGeom prst="rect">
            <a:avLst/>
          </a:prstGeom>
          <a:solidFill>
            <a:srgbClr val="FFFFFF">
              <a:alpha val="4000"/>
            </a:srgbClr>
          </a:solidFill>
          <a:ln/>
        </p:spPr>
      </p:sp>
      <p:sp>
        <p:nvSpPr>
          <p:cNvPr id="20" name="Text 17"/>
          <p:cNvSpPr/>
          <p:nvPr/>
        </p:nvSpPr>
        <p:spPr>
          <a:xfrm>
            <a:off x="1966079" y="5016937"/>
            <a:ext cx="1834158" cy="301943"/>
          </a:xfrm>
          <a:prstGeom prst="rect">
            <a:avLst/>
          </a:prstGeom>
          <a:noFill/>
          <a:ln/>
        </p:spPr>
        <p:txBody>
          <a:bodyPr wrap="non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Tkinter</a:t>
            </a:r>
            <a:endParaRPr lang="en-US" sz="1486" dirty="0"/>
          </a:p>
        </p:txBody>
      </p:sp>
      <p:sp>
        <p:nvSpPr>
          <p:cNvPr id="21" name="Text 18"/>
          <p:cNvSpPr/>
          <p:nvPr/>
        </p:nvSpPr>
        <p:spPr>
          <a:xfrm>
            <a:off x="4185047" y="5016937"/>
            <a:ext cx="1830348" cy="905828"/>
          </a:xfrm>
          <a:prstGeom prst="rect">
            <a:avLst/>
          </a:prstGeom>
          <a:noFill/>
          <a:ln/>
        </p:spPr>
        <p:txBody>
          <a:bodyPr wrap="squar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Simple interface, basic functionality, error checking,solver</a:t>
            </a:r>
            <a:endParaRPr lang="en-US" sz="1486" dirty="0"/>
          </a:p>
        </p:txBody>
      </p:sp>
      <p:sp>
        <p:nvSpPr>
          <p:cNvPr id="22" name="Text 19"/>
          <p:cNvSpPr/>
          <p:nvPr/>
        </p:nvSpPr>
        <p:spPr>
          <a:xfrm>
            <a:off x="6400205" y="5016937"/>
            <a:ext cx="1830348" cy="905828"/>
          </a:xfrm>
          <a:prstGeom prst="rect">
            <a:avLst/>
          </a:prstGeom>
          <a:noFill/>
          <a:ln/>
        </p:spPr>
        <p:txBody>
          <a:bodyPr wrap="squar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Simple and straightforward, easier to develop</a:t>
            </a:r>
            <a:endParaRPr lang="en-US" sz="1486" dirty="0"/>
          </a:p>
        </p:txBody>
      </p:sp>
      <p:sp>
        <p:nvSpPr>
          <p:cNvPr id="23" name="Text 20"/>
          <p:cNvSpPr/>
          <p:nvPr/>
        </p:nvSpPr>
        <p:spPr>
          <a:xfrm>
            <a:off x="8615363" y="5016937"/>
            <a:ext cx="1830348" cy="905828"/>
          </a:xfrm>
          <a:prstGeom prst="rect">
            <a:avLst/>
          </a:prstGeom>
          <a:noFill/>
          <a:ln/>
        </p:spPr>
        <p:txBody>
          <a:bodyPr wrap="squar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Less visually appealing, fewer features</a:t>
            </a:r>
            <a:endParaRPr lang="en-US" sz="1486" dirty="0"/>
          </a:p>
        </p:txBody>
      </p:sp>
      <p:sp>
        <p:nvSpPr>
          <p:cNvPr id="24" name="Text 21"/>
          <p:cNvSpPr/>
          <p:nvPr/>
        </p:nvSpPr>
        <p:spPr>
          <a:xfrm>
            <a:off x="10802243" y="4950947"/>
            <a:ext cx="2022753" cy="1456846"/>
          </a:xfrm>
          <a:prstGeom prst="rect">
            <a:avLst/>
          </a:prstGeom>
          <a:noFill/>
          <a:ln/>
        </p:spPr>
        <p:txBody>
          <a:bodyPr wrap="square" rtlCol="0" anchor="t"/>
          <a:lstStyle/>
          <a:p>
            <a:pPr marL="0" indent="0">
              <a:lnSpc>
                <a:spcPts val="2377"/>
              </a:lnSpc>
              <a:buNone/>
            </a:pPr>
            <a:r>
              <a:rPr lang="en-US" sz="1486" dirty="0">
                <a:solidFill>
                  <a:srgbClr val="E5E0DF"/>
                </a:solidFill>
                <a:latin typeface="Barlow" pitchFamily="34" charset="0"/>
                <a:ea typeface="Barlow" pitchFamily="34" charset="-122"/>
                <a:cs typeface="Barlow" pitchFamily="34" charset="-120"/>
              </a:rPr>
              <a:t>provides a simpler and more straightforward approach to GUI development, making it easier to create the game's graphical interface.</a:t>
            </a:r>
            <a:endParaRPr lang="en-US" sz="1486"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75000"/>
            </a:srgbClr>
          </a:solidFill>
          <a:ln/>
        </p:spPr>
      </p:sp>
      <p:sp>
        <p:nvSpPr>
          <p:cNvPr id="4" name="Text 1"/>
          <p:cNvSpPr/>
          <p:nvPr/>
        </p:nvSpPr>
        <p:spPr>
          <a:xfrm>
            <a:off x="864037" y="1980248"/>
            <a:ext cx="8902303" cy="685800"/>
          </a:xfrm>
          <a:prstGeom prst="rect">
            <a:avLst/>
          </a:prstGeom>
          <a:noFill/>
          <a:ln/>
        </p:spPr>
        <p:txBody>
          <a:bodyPr wrap="none" rtlCol="0" anchor="t"/>
          <a:lstStyle/>
          <a:p>
            <a:pPr marL="0" indent="0">
              <a:lnSpc>
                <a:spcPts val="5400"/>
              </a:lnSpc>
              <a:buNone/>
            </a:pPr>
            <a:r>
              <a:rPr lang="en-US" sz="4320" dirty="0">
                <a:solidFill>
                  <a:srgbClr val="FFFFFF"/>
                </a:solidFill>
                <a:latin typeface="Barlow" pitchFamily="34" charset="0"/>
                <a:ea typeface="Barlow" pitchFamily="34" charset="-122"/>
                <a:cs typeface="Barlow" pitchFamily="34" charset="-120"/>
              </a:rPr>
              <a:t>Conclusion and Future Improvements</a:t>
            </a:r>
            <a:endParaRPr lang="en-US" sz="4320" dirty="0"/>
          </a:p>
        </p:txBody>
      </p:sp>
      <p:sp>
        <p:nvSpPr>
          <p:cNvPr id="5" name="Text 2"/>
          <p:cNvSpPr/>
          <p:nvPr/>
        </p:nvSpPr>
        <p:spPr>
          <a:xfrm>
            <a:off x="864037" y="3036332"/>
            <a:ext cx="12902327" cy="790099"/>
          </a:xfrm>
          <a:prstGeom prst="rect">
            <a:avLst/>
          </a:prstGeom>
          <a:noFill/>
          <a:ln/>
        </p:spPr>
        <p:txBody>
          <a:bodyPr wrap="square" rtlCol="0" anchor="t"/>
          <a:lstStyle/>
          <a:p>
            <a:pPr marL="0" indent="0">
              <a:lnSpc>
                <a:spcPts val="3110"/>
              </a:lnSpc>
              <a:buNone/>
            </a:pPr>
            <a:r>
              <a:rPr lang="en-US" sz="1944" dirty="0">
                <a:solidFill>
                  <a:srgbClr val="E5E0DF"/>
                </a:solidFill>
                <a:latin typeface="Barlow" pitchFamily="34" charset="0"/>
                <a:ea typeface="Barlow" pitchFamily="34" charset="-122"/>
                <a:cs typeface="Barlow" pitchFamily="34" charset="-120"/>
              </a:rPr>
              <a:t>My Sudoku game projects showcase the versatility of Python for game development. The Pygame version provides a richer and more interactive experience, while the Tkinter version offers a simpler and more accessible approach.</a:t>
            </a:r>
            <a:endParaRPr lang="en-US" sz="1944" dirty="0"/>
          </a:p>
        </p:txBody>
      </p:sp>
      <p:pic>
        <p:nvPicPr>
          <p:cNvPr id="6" name="Image 1" descr="preencoded.png"/>
          <p:cNvPicPr>
            <a:picLocks noChangeAspect="1"/>
          </p:cNvPicPr>
          <p:nvPr/>
        </p:nvPicPr>
        <p:blipFill>
          <a:blip r:embed="rId4"/>
          <a:stretch>
            <a:fillRect/>
          </a:stretch>
        </p:blipFill>
        <p:spPr>
          <a:xfrm>
            <a:off x="864037" y="4104084"/>
            <a:ext cx="617220" cy="617220"/>
          </a:xfrm>
          <a:prstGeom prst="rect">
            <a:avLst/>
          </a:prstGeom>
        </p:spPr>
      </p:pic>
      <p:sp>
        <p:nvSpPr>
          <p:cNvPr id="7" name="Text 3"/>
          <p:cNvSpPr/>
          <p:nvPr/>
        </p:nvSpPr>
        <p:spPr>
          <a:xfrm>
            <a:off x="864037" y="4968121"/>
            <a:ext cx="2743200" cy="342900"/>
          </a:xfrm>
          <a:prstGeom prst="rect">
            <a:avLst/>
          </a:prstGeom>
          <a:noFill/>
          <a:ln/>
        </p:spPr>
        <p:txBody>
          <a:bodyPr wrap="none" rtlCol="0" anchor="t"/>
          <a:lstStyle/>
          <a:p>
            <a:pPr marL="0" indent="0" algn="l">
              <a:lnSpc>
                <a:spcPts val="2700"/>
              </a:lnSpc>
              <a:buNone/>
            </a:pPr>
            <a:r>
              <a:rPr lang="en-US" sz="2160" dirty="0">
                <a:solidFill>
                  <a:srgbClr val="E5E0DF"/>
                </a:solidFill>
                <a:latin typeface="Barlow" pitchFamily="34" charset="0"/>
                <a:ea typeface="Barlow" pitchFamily="34" charset="-122"/>
                <a:cs typeface="Barlow" pitchFamily="34" charset="-120"/>
              </a:rPr>
              <a:t>Future Plans</a:t>
            </a:r>
            <a:endParaRPr lang="en-US" sz="2160" dirty="0"/>
          </a:p>
        </p:txBody>
      </p:sp>
      <p:sp>
        <p:nvSpPr>
          <p:cNvPr id="8" name="Text 4"/>
          <p:cNvSpPr/>
          <p:nvPr/>
        </p:nvSpPr>
        <p:spPr>
          <a:xfrm>
            <a:off x="864037" y="5459135"/>
            <a:ext cx="6266021" cy="790099"/>
          </a:xfrm>
          <a:prstGeom prst="rect">
            <a:avLst/>
          </a:prstGeom>
          <a:noFill/>
          <a:ln/>
        </p:spPr>
        <p:txBody>
          <a:bodyPr wrap="square" rtlCol="0" anchor="t"/>
          <a:lstStyle/>
          <a:p>
            <a:pPr marL="0" indent="0" algn="l">
              <a:lnSpc>
                <a:spcPts val="3110"/>
              </a:lnSpc>
              <a:buNone/>
            </a:pPr>
            <a:r>
              <a:rPr lang="en-US" sz="1944" dirty="0">
                <a:solidFill>
                  <a:srgbClr val="E5E0DF"/>
                </a:solidFill>
                <a:latin typeface="Barlow" pitchFamily="34" charset="0"/>
                <a:ea typeface="Barlow" pitchFamily="34" charset="-122"/>
                <a:cs typeface="Barlow" pitchFamily="34" charset="-120"/>
              </a:rPr>
              <a:t>I plan to continue improving both games by adding new features and enhancing the user experience.</a:t>
            </a:r>
            <a:endParaRPr lang="en-US" sz="1944" dirty="0"/>
          </a:p>
        </p:txBody>
      </p:sp>
      <p:pic>
        <p:nvPicPr>
          <p:cNvPr id="9" name="Image 2" descr="preencoded.png"/>
          <p:cNvPicPr>
            <a:picLocks noChangeAspect="1"/>
          </p:cNvPicPr>
          <p:nvPr/>
        </p:nvPicPr>
        <p:blipFill>
          <a:blip r:embed="rId5"/>
          <a:stretch>
            <a:fillRect/>
          </a:stretch>
        </p:blipFill>
        <p:spPr>
          <a:xfrm>
            <a:off x="7500342" y="4104084"/>
            <a:ext cx="617220" cy="617220"/>
          </a:xfrm>
          <a:prstGeom prst="rect">
            <a:avLst/>
          </a:prstGeom>
        </p:spPr>
      </p:pic>
      <p:sp>
        <p:nvSpPr>
          <p:cNvPr id="10" name="Text 5"/>
          <p:cNvSpPr/>
          <p:nvPr/>
        </p:nvSpPr>
        <p:spPr>
          <a:xfrm>
            <a:off x="7500342" y="4968121"/>
            <a:ext cx="2743200" cy="342900"/>
          </a:xfrm>
          <a:prstGeom prst="rect">
            <a:avLst/>
          </a:prstGeom>
          <a:noFill/>
          <a:ln/>
        </p:spPr>
        <p:txBody>
          <a:bodyPr wrap="none" rtlCol="0" anchor="t"/>
          <a:lstStyle/>
          <a:p>
            <a:pPr marL="0" indent="0" algn="l">
              <a:lnSpc>
                <a:spcPts val="2700"/>
              </a:lnSpc>
              <a:buNone/>
            </a:pPr>
            <a:r>
              <a:rPr lang="en-US" sz="2160" dirty="0">
                <a:solidFill>
                  <a:srgbClr val="E5E0DF"/>
                </a:solidFill>
                <a:latin typeface="Barlow" pitchFamily="34" charset="0"/>
                <a:ea typeface="Barlow" pitchFamily="34" charset="-122"/>
                <a:cs typeface="Barlow" pitchFamily="34" charset="-120"/>
              </a:rPr>
              <a:t>New Features</a:t>
            </a:r>
            <a:endParaRPr lang="en-US" sz="2160" dirty="0"/>
          </a:p>
        </p:txBody>
      </p:sp>
      <p:sp>
        <p:nvSpPr>
          <p:cNvPr id="11" name="Text 6"/>
          <p:cNvSpPr/>
          <p:nvPr/>
        </p:nvSpPr>
        <p:spPr>
          <a:xfrm>
            <a:off x="7500342" y="5459135"/>
            <a:ext cx="6266021" cy="790099"/>
          </a:xfrm>
          <a:prstGeom prst="rect">
            <a:avLst/>
          </a:prstGeom>
          <a:noFill/>
          <a:ln/>
        </p:spPr>
        <p:txBody>
          <a:bodyPr wrap="square" rtlCol="0" anchor="t"/>
          <a:lstStyle/>
          <a:p>
            <a:pPr marL="0" indent="0" algn="l">
              <a:lnSpc>
                <a:spcPts val="3110"/>
              </a:lnSpc>
              <a:buNone/>
            </a:pPr>
            <a:r>
              <a:rPr lang="en-US" sz="1944" dirty="0">
                <a:solidFill>
                  <a:srgbClr val="E5E0DF"/>
                </a:solidFill>
                <a:latin typeface="Barlow" pitchFamily="34" charset="0"/>
                <a:ea typeface="Barlow" pitchFamily="34" charset="-122"/>
                <a:cs typeface="Barlow" pitchFamily="34" charset="-120"/>
              </a:rPr>
              <a:t>I'm considering adding a puzzle editor,Hint button, and more difficulty levels.</a:t>
            </a:r>
            <a:endParaRPr lang="en-US" sz="194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75000"/>
            </a:srgbClr>
          </a:solidFill>
          <a:ln/>
        </p:spPr>
      </p:sp>
      <p:sp>
        <p:nvSpPr>
          <p:cNvPr id="11" name="Text 6"/>
          <p:cNvSpPr/>
          <p:nvPr/>
        </p:nvSpPr>
        <p:spPr>
          <a:xfrm>
            <a:off x="4356848" y="2796988"/>
            <a:ext cx="9409516" cy="3452247"/>
          </a:xfrm>
          <a:prstGeom prst="rect">
            <a:avLst/>
          </a:prstGeom>
          <a:noFill/>
          <a:ln/>
        </p:spPr>
        <p:txBody>
          <a:bodyPr wrap="square" rtlCol="0" anchor="t"/>
          <a:lstStyle/>
          <a:p>
            <a:pPr marL="0" indent="0" algn="l">
              <a:lnSpc>
                <a:spcPts val="3110"/>
              </a:lnSpc>
              <a:buNone/>
            </a:pPr>
            <a:r>
              <a:rPr lang="en-US" sz="6000" dirty="0">
                <a:solidFill>
                  <a:srgbClr val="E5E0DF"/>
                </a:solidFill>
                <a:latin typeface="Barlow" pitchFamily="34" charset="0"/>
                <a:ea typeface="Barlow" pitchFamily="34" charset="-122"/>
                <a:cs typeface="Barlow" pitchFamily="34" charset="-120"/>
              </a:rPr>
              <a:t>THANK YOU </a:t>
            </a:r>
            <a:r>
              <a:rPr lang="en-US" sz="6000" dirty="0">
                <a:solidFill>
                  <a:srgbClr val="E5E0DF"/>
                </a:solidFill>
                <a:latin typeface="Barlow" pitchFamily="34" charset="0"/>
                <a:ea typeface="Barlow" pitchFamily="34" charset="-122"/>
                <a:cs typeface="Barlow" pitchFamily="34" charset="-120"/>
                <a:sym typeface="Wingdings" panose="05000000000000000000" pitchFamily="2" charset="2"/>
              </a:rPr>
              <a:t></a:t>
            </a:r>
          </a:p>
          <a:p>
            <a:pPr marL="0" indent="0" algn="l">
              <a:lnSpc>
                <a:spcPts val="3110"/>
              </a:lnSpc>
              <a:buNone/>
            </a:pPr>
            <a:endParaRPr lang="en-US" sz="6000" dirty="0">
              <a:solidFill>
                <a:srgbClr val="E5E0DF"/>
              </a:solidFill>
              <a:latin typeface="Barlow" pitchFamily="34" charset="0"/>
              <a:ea typeface="Barlow" pitchFamily="34" charset="-122"/>
              <a:cs typeface="Barlow" pitchFamily="34" charset="-120"/>
              <a:sym typeface="Wingdings" panose="05000000000000000000" pitchFamily="2" charset="2"/>
            </a:endParaRPr>
          </a:p>
          <a:p>
            <a:pPr marL="0" indent="0" algn="l">
              <a:lnSpc>
                <a:spcPts val="3110"/>
              </a:lnSpc>
              <a:buNone/>
            </a:pPr>
            <a:br>
              <a:rPr lang="en-US" sz="6000" dirty="0">
                <a:solidFill>
                  <a:srgbClr val="E5E0DF"/>
                </a:solidFill>
                <a:latin typeface="Barlow" pitchFamily="34" charset="0"/>
                <a:ea typeface="Barlow" pitchFamily="34" charset="-122"/>
                <a:cs typeface="Barlow" pitchFamily="34" charset="-120"/>
                <a:sym typeface="Wingdings" panose="05000000000000000000" pitchFamily="2" charset="2"/>
              </a:rPr>
            </a:br>
            <a:r>
              <a:rPr lang="en-US" sz="6000" dirty="0">
                <a:solidFill>
                  <a:srgbClr val="E5E0DF"/>
                </a:solidFill>
                <a:latin typeface="Barlow" pitchFamily="34" charset="0"/>
                <a:ea typeface="Barlow" pitchFamily="34" charset="-122"/>
                <a:cs typeface="Barlow" pitchFamily="34" charset="-120"/>
                <a:sym typeface="Wingdings" panose="05000000000000000000" pitchFamily="2" charset="2"/>
              </a:rPr>
              <a:t>Any Questions?</a:t>
            </a:r>
            <a:endParaRPr lang="en-US" sz="6000" dirty="0"/>
          </a:p>
        </p:txBody>
      </p:sp>
      <p:sp>
        <p:nvSpPr>
          <p:cNvPr id="12" name="TextBox 11">
            <a:extLst>
              <a:ext uri="{FF2B5EF4-FFF2-40B4-BE49-F238E27FC236}">
                <a16:creationId xmlns:a16="http://schemas.microsoft.com/office/drawing/2014/main" id="{B5BEDE34-67EE-4955-875C-6F443CCA8A9D}"/>
              </a:ext>
            </a:extLst>
          </p:cNvPr>
          <p:cNvSpPr txBox="1"/>
          <p:nvPr/>
        </p:nvSpPr>
        <p:spPr>
          <a:xfrm>
            <a:off x="5507915" y="5271247"/>
            <a:ext cx="2979869" cy="1754326"/>
          </a:xfrm>
          <a:prstGeom prst="rect">
            <a:avLst/>
          </a:prstGeom>
          <a:noFill/>
        </p:spPr>
        <p:txBody>
          <a:bodyPr wrap="square" rtlCol="0">
            <a:spAutoFit/>
          </a:bodyPr>
          <a:lstStyle/>
          <a:p>
            <a:r>
              <a:rPr lang="en-US" dirty="0">
                <a:solidFill>
                  <a:schemeClr val="bg1"/>
                </a:solidFill>
              </a:rPr>
              <a:t>Made by:</a:t>
            </a:r>
          </a:p>
          <a:p>
            <a:r>
              <a:rPr lang="en-US" dirty="0">
                <a:solidFill>
                  <a:schemeClr val="bg1"/>
                </a:solidFill>
              </a:rPr>
              <a:t>Reema Ehab El </a:t>
            </a:r>
            <a:r>
              <a:rPr lang="en-US" dirty="0" err="1">
                <a:solidFill>
                  <a:schemeClr val="bg1"/>
                </a:solidFill>
              </a:rPr>
              <a:t>hariry</a:t>
            </a:r>
            <a:endParaRPr lang="en-US" dirty="0">
              <a:solidFill>
                <a:schemeClr val="bg1"/>
              </a:solidFill>
            </a:endParaRPr>
          </a:p>
          <a:p>
            <a:r>
              <a:rPr lang="en-US" dirty="0">
                <a:solidFill>
                  <a:schemeClr val="bg1"/>
                </a:solidFill>
              </a:rPr>
              <a:t>Jessica Boles</a:t>
            </a:r>
          </a:p>
          <a:p>
            <a:r>
              <a:rPr lang="en-US" dirty="0">
                <a:solidFill>
                  <a:schemeClr val="bg1"/>
                </a:solidFill>
              </a:rPr>
              <a:t>Nadia Talaat</a:t>
            </a:r>
          </a:p>
          <a:p>
            <a:r>
              <a:rPr lang="en-US" dirty="0">
                <a:solidFill>
                  <a:schemeClr val="bg1"/>
                </a:solidFill>
              </a:rPr>
              <a:t>Mohamed El </a:t>
            </a:r>
            <a:r>
              <a:rPr lang="en-US" dirty="0" err="1">
                <a:solidFill>
                  <a:schemeClr val="bg1"/>
                </a:solidFill>
              </a:rPr>
              <a:t>Sharkawy</a:t>
            </a:r>
            <a:endParaRPr lang="en-US" dirty="0">
              <a:solidFill>
                <a:schemeClr val="bg1"/>
              </a:solidFill>
            </a:endParaRPr>
          </a:p>
          <a:p>
            <a:r>
              <a:rPr lang="en-US">
                <a:solidFill>
                  <a:schemeClr val="bg1"/>
                </a:solidFill>
              </a:rPr>
              <a:t>Amr Khaled</a:t>
            </a:r>
            <a:endParaRPr lang="en-US" dirty="0">
              <a:solidFill>
                <a:schemeClr val="bg1"/>
              </a:solidFill>
            </a:endParaRPr>
          </a:p>
        </p:txBody>
      </p:sp>
    </p:spTree>
    <p:extLst>
      <p:ext uri="{BB962C8B-B14F-4D97-AF65-F5344CB8AC3E}">
        <p14:creationId xmlns:p14="http://schemas.microsoft.com/office/powerpoint/2010/main" val="2332681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893</Words>
  <Application>Microsoft Office PowerPoint</Application>
  <PresentationFormat>Custom</PresentationFormat>
  <Paragraphs>122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Barlow</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Reema Hariry</cp:lastModifiedBy>
  <cp:revision>4</cp:revision>
  <dcterms:created xsi:type="dcterms:W3CDTF">2024-08-28T16:51:20Z</dcterms:created>
  <dcterms:modified xsi:type="dcterms:W3CDTF">2024-08-28T17:30:13Z</dcterms:modified>
</cp:coreProperties>
</file>